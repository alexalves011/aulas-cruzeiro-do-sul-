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09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7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00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12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2527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389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6150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12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238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27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64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94053-401E-4B16-9154-D91EE09F25A6}" type="datetimeFigureOut">
              <a:rPr lang="pt-BR" smtClean="0"/>
              <a:t>14/08/2024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B185D-0614-4D8A-98BD-D3E8824FD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67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140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pt-BR" b="1" dirty="0"/>
              <a:t>Banco de Dados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banco de dados pode ser definido como um conjunto de dados devidamente relacionados</a:t>
            </a:r>
          </a:p>
        </p:txBody>
      </p:sp>
    </p:spTree>
    <p:extLst>
      <p:ext uri="{BB962C8B-B14F-4D97-AF65-F5344CB8AC3E}">
        <p14:creationId xmlns:p14="http://schemas.microsoft.com/office/powerpoint/2010/main" val="3808595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Sistemas de 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É um conjunto de elementos envolvidos no armazenamento e processamentos de grande volume de </a:t>
            </a:r>
            <a:r>
              <a:rPr lang="pt-BR" dirty="0" smtClean="0"/>
              <a:t>dados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34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Sistemas de 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Um </a:t>
            </a:r>
            <a:r>
              <a:rPr lang="pt-BR" dirty="0"/>
              <a:t>elemento fundamental de um sistema de banco de dados é o “Sistema Gerenciador de Banco de Dados (SGBD) =&gt; (Em inglês: Data Base Management System – DBMS). Podem variar entre fabricante, recursos e preço. EX: ORACLE, DBZ SQL SERVER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O </a:t>
            </a:r>
            <a:r>
              <a:rPr lang="pt-BR" dirty="0"/>
              <a:t>SGBD inclui ainda facilidades para:</a:t>
            </a:r>
          </a:p>
          <a:p>
            <a:pPr lvl="1"/>
            <a:r>
              <a:rPr lang="pt-BR" dirty="0"/>
              <a:t>Manipulação de dados;</a:t>
            </a:r>
          </a:p>
          <a:p>
            <a:pPr lvl="1"/>
            <a:r>
              <a:rPr lang="pt-BR" dirty="0"/>
              <a:t>Definição de estruturas de dados;</a:t>
            </a:r>
          </a:p>
          <a:p>
            <a:pPr lvl="1"/>
            <a:r>
              <a:rPr lang="pt-BR" dirty="0"/>
              <a:t>Segurança contra falhas e acessos não autorizados;</a:t>
            </a:r>
          </a:p>
          <a:p>
            <a:pPr lvl="1"/>
            <a:r>
              <a:rPr lang="pt-BR" dirty="0"/>
              <a:t>Controle de uso compartilhado dos dados por diversos usuários;</a:t>
            </a:r>
          </a:p>
          <a:p>
            <a:pPr lvl="1"/>
            <a:r>
              <a:rPr lang="pt-BR" dirty="0"/>
              <a:t>Manter a integridade dos dados.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775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9585"/>
            <a:ext cx="6336704" cy="66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9500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Os Problemas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pt-BR" b="1" dirty="0" smtClean="0"/>
              <a:t>Inconsistência </a:t>
            </a:r>
            <a:r>
              <a:rPr lang="pt-BR" b="1" dirty="0"/>
              <a:t>e Redundância de Dados: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/>
              <a:t>Uma </a:t>
            </a:r>
            <a:r>
              <a:rPr lang="pt-BR" dirty="0"/>
              <a:t>mesma informação poderá estar em mais de um arquivo. </a:t>
            </a:r>
          </a:p>
          <a:p>
            <a:endParaRPr lang="pt-BR" dirty="0" smtClean="0"/>
          </a:p>
          <a:p>
            <a:r>
              <a:rPr lang="pt-BR" dirty="0" smtClean="0"/>
              <a:t>A </a:t>
            </a:r>
            <a:r>
              <a:rPr lang="pt-BR" dirty="0"/>
              <a:t>redundância leva a:</a:t>
            </a:r>
          </a:p>
          <a:p>
            <a:pPr lvl="1"/>
            <a:r>
              <a:rPr lang="pt-BR" dirty="0"/>
              <a:t>Inconsistência dos dados (cópia de um mesmo dado com valores diferentes);</a:t>
            </a:r>
          </a:p>
          <a:p>
            <a:pPr lvl="1"/>
            <a:r>
              <a:rPr lang="pt-BR" dirty="0"/>
              <a:t>Maior custo de armazenamento (</a:t>
            </a:r>
            <a:r>
              <a:rPr lang="pt-BR" dirty="0" err="1"/>
              <a:t>Ex</a:t>
            </a:r>
            <a:r>
              <a:rPr lang="pt-BR" dirty="0"/>
              <a:t>: endereço do cliente poderá estar em dois arquivos distintos: cliente e contas correntes).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O SGBD resolve esse problema, pois ele cria um modelo relacional onde o dado é um só.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7738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Os Problemas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pt-BR" b="1" dirty="0"/>
              <a:t>Dificuldade no acesso de dados: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/>
              <a:t>Acesso </a:t>
            </a:r>
            <a:r>
              <a:rPr lang="pt-BR" dirty="0"/>
              <a:t>não previsto implica em:</a:t>
            </a:r>
          </a:p>
          <a:p>
            <a:pPr lvl="1"/>
            <a:r>
              <a:rPr lang="pt-BR" dirty="0"/>
              <a:t>Desenvolvimento de um novo programa de aplicação;</a:t>
            </a:r>
          </a:p>
          <a:p>
            <a:pPr lvl="1"/>
            <a:r>
              <a:rPr lang="pt-BR" dirty="0"/>
              <a:t>Ou trabalho manual.</a:t>
            </a:r>
          </a:p>
          <a:p>
            <a:pPr marL="0" indent="0">
              <a:buNone/>
            </a:pPr>
            <a:r>
              <a:rPr lang="pt-BR" dirty="0"/>
              <a:t> </a:t>
            </a:r>
          </a:p>
          <a:p>
            <a:r>
              <a:rPr lang="pt-BR" dirty="0" err="1"/>
              <a:t>Ex</a:t>
            </a:r>
            <a:r>
              <a:rPr lang="pt-BR" dirty="0"/>
              <a:t>: Existe um arquivo com os nomes dos clientes. Listar os nomes dos clientes que vivem na área da cidade e cujo CEP é conhecido.</a:t>
            </a:r>
          </a:p>
          <a:p>
            <a:pPr marL="0" indent="0">
              <a:buNone/>
            </a:pPr>
            <a:r>
              <a:rPr lang="pt-BR" dirty="0"/>
              <a:t> </a:t>
            </a:r>
          </a:p>
          <a:p>
            <a:r>
              <a:rPr lang="pt-BR" dirty="0"/>
              <a:t>O SGBD possui uma ferramenta de CONSULTA própria que permite acesso aos dados. Além disso, o próprio usuário define o tipo de consulta que deseja, através de uma ferramenta específica.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801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Os Problemas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Isolamento dos dados</a:t>
            </a:r>
            <a:r>
              <a:rPr lang="pt-BR" b="1" dirty="0" smtClean="0"/>
              <a:t>:</a:t>
            </a:r>
          </a:p>
          <a:p>
            <a:pPr lvl="0"/>
            <a:endParaRPr lang="pt-BR" dirty="0"/>
          </a:p>
          <a:p>
            <a:r>
              <a:rPr lang="pt-BR" dirty="0"/>
              <a:t>É difícil escrever novos programas quando os dados a serem manipulados estão espalhados, sem critérios adequados, em vários arquivos e podendo estar em formatos diferentes de um arquivo para outro.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839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Os Problemas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pt-BR" b="1" dirty="0"/>
              <a:t>Múltiplos usuários: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/>
              <a:t>Múltiplos </a:t>
            </a:r>
            <a:r>
              <a:rPr lang="pt-BR" dirty="0"/>
              <a:t>usuários atualizam dados simultaneamente.</a:t>
            </a:r>
          </a:p>
          <a:p>
            <a:r>
              <a:rPr lang="pt-BR" dirty="0" err="1"/>
              <a:t>Ex</a:t>
            </a:r>
            <a:r>
              <a:rPr lang="pt-BR" dirty="0"/>
              <a:t>: saldo = 500; saque do cliente A = 50; saque do cliente B = 100;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Cliente A: lê saldo (saldo = 500);</a:t>
            </a:r>
          </a:p>
          <a:p>
            <a:r>
              <a:rPr lang="pt-BR" dirty="0"/>
              <a:t>Cliente B: lê saldo (saldo = 500);</a:t>
            </a:r>
          </a:p>
          <a:p>
            <a:r>
              <a:rPr lang="pt-BR" dirty="0"/>
              <a:t>Cliente A: calcula resultado (novo saldo = 450);</a:t>
            </a:r>
          </a:p>
          <a:p>
            <a:r>
              <a:rPr lang="pt-BR" dirty="0"/>
              <a:t>Cliente B: calcula resultado (novo saldo = 400);</a:t>
            </a:r>
          </a:p>
          <a:p>
            <a:r>
              <a:rPr lang="pt-BR" dirty="0"/>
              <a:t>Cliente A: armazena resultado (saldo = 450);</a:t>
            </a:r>
          </a:p>
          <a:p>
            <a:r>
              <a:rPr lang="pt-BR" dirty="0"/>
              <a:t>Cliente B: calcula resultado (saldo = 400);</a:t>
            </a:r>
          </a:p>
          <a:p>
            <a:r>
              <a:rPr lang="pt-BR" dirty="0"/>
              <a:t>Porém, o valor final do saldo é 400 ao invés de 350.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No SGBD o dado é único, e quando o primeiro usuário solicita o dado, ele trava o acesso ao dado de uma outra possível atualização ( um de cada vez).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7474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/>
              <a:t>Problemas de segurança:</a:t>
            </a:r>
            <a:endParaRPr lang="pt-BR" dirty="0"/>
          </a:p>
          <a:p>
            <a:r>
              <a:rPr lang="pt-BR" dirty="0"/>
              <a:t>Controle de acesso aos dados. Nem todo usuário pode ser autorizado a acessar todos os dados.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9763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Os Problemas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pt-BR" b="1" dirty="0"/>
              <a:t>Integridade de dados: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/>
              <a:t>Restrições </a:t>
            </a:r>
            <a:r>
              <a:rPr lang="pt-BR" dirty="0"/>
              <a:t>de integridade, </a:t>
            </a:r>
            <a:r>
              <a:rPr lang="pt-BR" dirty="0" err="1"/>
              <a:t>ex</a:t>
            </a:r>
            <a:r>
              <a:rPr lang="pt-BR" dirty="0"/>
              <a:t>: Saldo &gt;- a 10,00 (não pode assumir valor menor).</a:t>
            </a:r>
          </a:p>
          <a:p>
            <a:r>
              <a:rPr lang="pt-BR" dirty="0"/>
              <a:t>Garantia da integridade fica difícil de ser mantida nos programas de aplicação porque ela precisaria ser implementada em todos os programas que atualizam saldo.</a:t>
            </a:r>
          </a:p>
          <a:p>
            <a:endParaRPr lang="pt-BR" dirty="0"/>
          </a:p>
          <a:p>
            <a:r>
              <a:rPr lang="pt-BR" dirty="0"/>
              <a:t>No SGBD as restrições são colocadas diretamente sobre os dados. Se por um acaso a restrição mudar, é só mudar em um único lugar e uma única vez.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4732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pt-BR" sz="2800" b="1" i="1" dirty="0" smtClean="0"/>
              <a:t>Linguagem de Definição de Dados (DDL)</a:t>
            </a: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Através </a:t>
            </a:r>
            <a:r>
              <a:rPr lang="pt-BR" dirty="0"/>
              <a:t>da DDL se expressa um conjunto de definições que especificam um esquema.</a:t>
            </a:r>
            <a:endParaRPr lang="pt-BR" sz="4000" dirty="0"/>
          </a:p>
          <a:p>
            <a:pPr lvl="0"/>
            <a:r>
              <a:rPr lang="pt-BR" dirty="0"/>
              <a:t>O resultado da compilação/execução de instruções DDL afeta diretamente o dicionário de dados (tabelas no banco). O dicionário de dados é um arquivo especial que contém “dados” acerca dos dados “reais”, e é consultado pelo sistema para acesso ao BD.</a:t>
            </a:r>
            <a:endParaRPr lang="pt-BR" sz="4000" dirty="0"/>
          </a:p>
          <a:p>
            <a:pPr lvl="0"/>
            <a:r>
              <a:rPr lang="pt-BR" dirty="0"/>
              <a:t>A estrutura de armazenamento e os Métodos de Acesso são também especificados por um conjunto de definições DDL. A compilação dessas definições resulta em um conjunto de instruções que especificam os detalhes de implementação dos esquemas.</a:t>
            </a:r>
            <a:endParaRPr lang="pt-BR" sz="4000" dirty="0"/>
          </a:p>
          <a:p>
            <a:pPr lvl="0"/>
            <a:r>
              <a:rPr lang="pt-BR" dirty="0"/>
              <a:t>A DDL poderá ainda prover facilidades para descrever os domínios e as restrições de integridade</a:t>
            </a:r>
            <a:r>
              <a:rPr lang="pt-BR" dirty="0" smtClean="0"/>
              <a:t>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997759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dirty="0" smtClean="0"/>
              <a:t>Linguagem de Definição de Dados (DDL)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 smtClean="0"/>
              <a:t>Exemplo de DDL: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 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CREATE TABLE FUNCIONARIO (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		</a:t>
            </a:r>
            <a:r>
              <a:rPr lang="en-US" dirty="0" smtClean="0"/>
              <a:t>NUMFUNC		SMALLINT NOTNULL,</a:t>
            </a:r>
            <a:endParaRPr lang="pt-BR" sz="4000" dirty="0" smtClean="0"/>
          </a:p>
          <a:p>
            <a:pPr marL="0" indent="0">
              <a:buNone/>
            </a:pPr>
            <a:r>
              <a:rPr lang="en-US" dirty="0" smtClean="0"/>
              <a:t>		NOME			VARCHAR (20),</a:t>
            </a:r>
            <a:endParaRPr lang="pt-BR" sz="4000" dirty="0" smtClean="0"/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pt-BR" dirty="0" smtClean="0"/>
              <a:t>SEXO			CHAR (1),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		CPF			CHAR (11),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		SALARIO		DECIMAL (8,2),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		CODDEPTO		CHAR (3) NOT NULL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);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 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ALTER TABLE FUNCIONARIO ADD COLUMN DTNASC DATE;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 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CREATE INDEX SALARIO_BUSCA ON FUNCIONARIOS (SALARIO DEC);</a:t>
            </a:r>
            <a:endParaRPr lang="pt-BR" sz="4000" dirty="0" smtClean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8892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Linguagem de Manipulação de Dados (DML)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Por </a:t>
            </a:r>
            <a:r>
              <a:rPr lang="pt-BR" dirty="0"/>
              <a:t>manipulação de dados entendemos:</a:t>
            </a:r>
            <a:endParaRPr lang="pt-BR" sz="4000" dirty="0"/>
          </a:p>
          <a:p>
            <a:pPr lvl="1"/>
            <a:r>
              <a:rPr lang="pt-BR" dirty="0"/>
              <a:t>Recuperação de dados;</a:t>
            </a:r>
            <a:endParaRPr lang="pt-BR" sz="3600" dirty="0"/>
          </a:p>
          <a:p>
            <a:pPr lvl="1"/>
            <a:r>
              <a:rPr lang="pt-BR" dirty="0"/>
              <a:t>Inserção de dados; </a:t>
            </a:r>
            <a:endParaRPr lang="pt-BR" sz="3600" dirty="0"/>
          </a:p>
          <a:p>
            <a:pPr lvl="1"/>
            <a:r>
              <a:rPr lang="pt-BR" dirty="0"/>
              <a:t>Remoção de dados;</a:t>
            </a:r>
            <a:endParaRPr lang="pt-BR" sz="3600" dirty="0"/>
          </a:p>
          <a:p>
            <a:pPr lvl="1"/>
            <a:r>
              <a:rPr lang="pt-BR" dirty="0"/>
              <a:t>Modificação de dados.</a:t>
            </a:r>
            <a:endParaRPr lang="pt-BR" sz="3600" dirty="0"/>
          </a:p>
          <a:p>
            <a:pPr marL="0" indent="0">
              <a:buNone/>
            </a:pPr>
            <a:r>
              <a:rPr lang="pt-BR" dirty="0"/>
              <a:t> </a:t>
            </a:r>
            <a:endParaRPr lang="pt-BR" sz="4000" dirty="0"/>
          </a:p>
          <a:p>
            <a:r>
              <a:rPr lang="pt-BR" dirty="0"/>
              <a:t>A DML é a linguagem que viabiliza o acesso ou a manipulação dos dados de forma compatível ao modelo de dados apropriado. São basicamente dois tipos:</a:t>
            </a:r>
            <a:endParaRPr lang="pt-BR" sz="4000" dirty="0"/>
          </a:p>
          <a:p>
            <a:pPr lvl="0"/>
            <a:r>
              <a:rPr lang="pt-BR" dirty="0"/>
              <a:t>DML Procedural: exige que o usuário especifique quais dados são necessários, e como obtê-los;</a:t>
            </a:r>
            <a:endParaRPr lang="pt-BR" sz="4000" dirty="0"/>
          </a:p>
          <a:p>
            <a:pPr lvl="0"/>
            <a:r>
              <a:rPr lang="pt-BR" dirty="0"/>
              <a:t>DML Não-Procedural: exige que o usuário especifique quais dados são necessários, sem especificar como </a:t>
            </a:r>
            <a:r>
              <a:rPr lang="pt-BR" dirty="0" err="1"/>
              <a:t>obtê-los.Mais</a:t>
            </a:r>
            <a:r>
              <a:rPr lang="pt-BR" dirty="0"/>
              <a:t> fácil de aprender a </a:t>
            </a:r>
            <a:r>
              <a:rPr lang="pt-BR" dirty="0" err="1"/>
              <a:t>usar.Pode</a:t>
            </a:r>
            <a:r>
              <a:rPr lang="pt-BR" dirty="0"/>
              <a:t> gerar códigos não muito eficientes</a:t>
            </a:r>
            <a:r>
              <a:rPr lang="pt-BR" dirty="0" smtClean="0"/>
              <a:t>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993331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Linguagem de Manipulação de Dados (DML)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 Exemplos de DML em SQL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 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 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SELECT rua, cidade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FROM cliente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WHERE nome = ‘Amanda’;</a:t>
            </a:r>
            <a:endParaRPr lang="pt-BR" sz="4000" dirty="0" smtClean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5404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Linguagem de Controle de Dados (DCL)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Apresenta </a:t>
            </a:r>
            <a:r>
              <a:rPr lang="pt-BR" dirty="0"/>
              <a:t>uma série de comandos para controlar o acesso aos dados, usuários e grupos. Dentre alguns exemplos de comandos DCL destacam-se os comandos GRANT e REVOKE.</a:t>
            </a:r>
            <a:endParaRPr lang="pt-BR" sz="4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0761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pt-BR" b="1" dirty="0"/>
              <a:t>O Projeto de Banco de </a:t>
            </a:r>
            <a:r>
              <a:rPr lang="pt-BR" b="1" dirty="0" smtClean="0"/>
              <a:t>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objetivo da modelagem de dados é transmitir e apresentar uma representação única, não redundante e resumida, dos dados de uma aplicação.</a:t>
            </a:r>
          </a:p>
          <a:p>
            <a:r>
              <a:rPr lang="pt-BR" dirty="0"/>
              <a:t>O projeto de um sistema de informações é atividade complexa que inclui planejamento, especificações e desenvolvimento de vários componentes.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1285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Modelo Conceitual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BR" dirty="0" smtClean="0"/>
              <a:t>Registra </a:t>
            </a:r>
            <a:r>
              <a:rPr lang="pt-BR" dirty="0"/>
              <a:t>QUE dados podem aparecer no banco, mas não registra COMO estes dados estão armazenados no SGBD.</a:t>
            </a:r>
            <a:endParaRPr lang="pt-BR" sz="4000" dirty="0"/>
          </a:p>
          <a:p>
            <a:pPr marL="0" indent="0">
              <a:buNone/>
            </a:pPr>
            <a:r>
              <a:rPr lang="pt-BR" dirty="0"/>
              <a:t> </a:t>
            </a:r>
          </a:p>
          <a:p>
            <a:r>
              <a:rPr lang="pt-BR" dirty="0"/>
              <a:t>Representa, descreve a realidade do ambiente do problema, constituindo-se em uma visão global dos principais dados e seus relacionamentos (estruturas de informação), completamente independente dos aspectos de sua implementação tecnológica</a:t>
            </a:r>
            <a:r>
              <a:rPr lang="pt-BR" dirty="0" smtClean="0"/>
              <a:t>.</a:t>
            </a:r>
          </a:p>
          <a:p>
            <a:endParaRPr lang="pt-BR" sz="4000" dirty="0"/>
          </a:p>
          <a:p>
            <a:r>
              <a:rPr lang="pt-BR" dirty="0"/>
              <a:t>O objetivo do modelo conceitual é descrever de forma simples e </a:t>
            </a:r>
            <a:r>
              <a:rPr lang="pt-BR" dirty="0" err="1"/>
              <a:t>facilamente</a:t>
            </a:r>
            <a:r>
              <a:rPr lang="pt-BR" dirty="0"/>
              <a:t> compreendida pelo usuário final as informações de um contexto de negócios, as quais devem ser armazenadas em um banco de dados</a:t>
            </a:r>
            <a:r>
              <a:rPr lang="pt-BR" dirty="0" smtClean="0"/>
              <a:t>.</a:t>
            </a:r>
          </a:p>
          <a:p>
            <a:endParaRPr lang="pt-BR" sz="4000" dirty="0"/>
          </a:p>
          <a:p>
            <a:r>
              <a:rPr lang="pt-BR" dirty="0"/>
              <a:t>Exemplo de um modelo conceitual textual:</a:t>
            </a:r>
            <a:endParaRPr lang="pt-BR" sz="4000" dirty="0"/>
          </a:p>
          <a:p>
            <a:pPr lvl="1"/>
            <a:r>
              <a:rPr lang="pt-BR" b="1" dirty="0"/>
              <a:t>1) Cadastro de Clientes</a:t>
            </a:r>
            <a:endParaRPr lang="pt-BR" sz="3600" dirty="0"/>
          </a:p>
          <a:p>
            <a:pPr lvl="1"/>
            <a:r>
              <a:rPr lang="pt-BR" dirty="0"/>
              <a:t>Dados necessários: nome completo, tipo de pessoa (física ou </a:t>
            </a:r>
            <a:r>
              <a:rPr lang="pt-BR" dirty="0" err="1"/>
              <a:t>jurídida</a:t>
            </a:r>
            <a:r>
              <a:rPr lang="pt-BR" dirty="0"/>
              <a:t>), endereço, bairro, cidade, estado, telefone, </a:t>
            </a:r>
            <a:r>
              <a:rPr lang="pt-BR" dirty="0" err="1"/>
              <a:t>email</a:t>
            </a:r>
            <a:r>
              <a:rPr lang="pt-BR" dirty="0"/>
              <a:t>, nome de contato.</a:t>
            </a:r>
            <a:endParaRPr lang="pt-BR" sz="3600" dirty="0"/>
          </a:p>
          <a:p>
            <a:pPr lvl="1"/>
            <a:r>
              <a:rPr lang="pt-BR" dirty="0"/>
              <a:t> </a:t>
            </a:r>
            <a:endParaRPr lang="pt-BR" sz="3600" dirty="0"/>
          </a:p>
          <a:p>
            <a:pPr lvl="1"/>
            <a:r>
              <a:rPr lang="pt-BR" b="1" dirty="0"/>
              <a:t>2) Pedido</a:t>
            </a:r>
            <a:endParaRPr lang="pt-BR" sz="3600" dirty="0"/>
          </a:p>
          <a:p>
            <a:pPr lvl="1"/>
            <a:r>
              <a:rPr lang="pt-BR" dirty="0"/>
              <a:t>Dados necessários: código do produto, quantidade, código do cliente, código do vendedor.</a:t>
            </a:r>
            <a:endParaRPr lang="pt-BR" sz="36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59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 Lógico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lvl="1"/>
            <a:endParaRPr lang="pt-BR" dirty="0"/>
          </a:p>
          <a:p>
            <a:r>
              <a:rPr lang="pt-BR" dirty="0"/>
              <a:t>Compreende uma descrição das estruturas que serão armazenadas no banco e que resulta em uma representação gráfica dos dados de uma maneira lógica, inclusive nomeando os componentes e ações que exercem uns sobre os outros.</a:t>
            </a:r>
            <a:endParaRPr lang="pt-BR" sz="4000" dirty="0"/>
          </a:p>
          <a:p>
            <a:pPr marL="0" indent="0">
              <a:buNone/>
            </a:pPr>
            <a:r>
              <a:rPr lang="pt-BR" dirty="0"/>
              <a:t> </a:t>
            </a:r>
          </a:p>
          <a:p>
            <a:r>
              <a:rPr lang="pt-BR" dirty="0" smtClean="0"/>
              <a:t>Ele </a:t>
            </a:r>
            <a:r>
              <a:rPr lang="pt-BR" dirty="0"/>
              <a:t>somente tem início após a criação do modelo conceitual, pois agora vamos considerar uma das abordagens possíveis da tecnologia de SGBD (relacional, hierárquico, rede ou orientado a objetos) para estruturação e estabelecimento da lógica dos relacionamentos existentes entre os dados definidos no modelo conceitual</a:t>
            </a:r>
            <a:r>
              <a:rPr lang="pt-BR" dirty="0" smtClean="0"/>
              <a:t>.</a:t>
            </a:r>
          </a:p>
          <a:p>
            <a:endParaRPr lang="pt-BR" sz="4000" dirty="0"/>
          </a:p>
          <a:p>
            <a:r>
              <a:rPr lang="pt-BR" dirty="0"/>
              <a:t>A elaboração direta de um modelo lógico de dados, independentemente de já sabermos a abordagem para banco de dados, para a qual estamos realizando um projeto, leva à vinculação tecnológica de nosso raciocínio, perturbando a interpretação pura e simples de um contexto. Sempre que analisamos um contexto sob a óptica tecnológica, temos a tendência de sermos técnicos demais, </a:t>
            </a:r>
            <a:r>
              <a:rPr lang="pt-BR" dirty="0" err="1"/>
              <a:t>ditorcendo</a:t>
            </a:r>
            <a:r>
              <a:rPr lang="pt-BR" dirty="0"/>
              <a:t> a realidade, conduzindo-a às restrições da tecnologia empregada, o que sempre, e já estatisticamente comprovado, leva a erros de interpretação da realidade, criando assim modelos de dados que não possuem aderência ao minimundo descrito</a:t>
            </a:r>
            <a:r>
              <a:rPr lang="pt-BR" dirty="0" smtClean="0"/>
              <a:t>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09080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 Lógico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Exemplo </a:t>
            </a:r>
            <a:r>
              <a:rPr lang="pt-BR" dirty="0"/>
              <a:t>gráfico de um modelo lógico</a:t>
            </a:r>
            <a:r>
              <a:rPr lang="pt-BR" dirty="0" smtClean="0"/>
              <a:t>:</a:t>
            </a:r>
            <a:r>
              <a:rPr lang="pt-BR" dirty="0"/>
              <a:t> </a:t>
            </a:r>
            <a:endParaRPr lang="pt-BR" sz="4000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Exemplo </a:t>
            </a:r>
            <a:r>
              <a:rPr lang="pt-BR" dirty="0"/>
              <a:t>textual de um modelo lógico</a:t>
            </a:r>
            <a:r>
              <a:rPr lang="pt-BR" dirty="0" smtClean="0"/>
              <a:t>:</a:t>
            </a:r>
            <a:r>
              <a:rPr lang="pt-BR" dirty="0"/>
              <a:t> </a:t>
            </a:r>
            <a:endParaRPr lang="pt-BR" sz="4000" dirty="0"/>
          </a:p>
          <a:p>
            <a:pPr lvl="1"/>
            <a:r>
              <a:rPr lang="pt-BR" dirty="0" err="1"/>
              <a:t>TipoProduto</a:t>
            </a:r>
            <a:r>
              <a:rPr lang="pt-BR" dirty="0"/>
              <a:t> (</a:t>
            </a:r>
            <a:r>
              <a:rPr lang="pt-BR" dirty="0" err="1"/>
              <a:t>Codigo</a:t>
            </a:r>
            <a:r>
              <a:rPr lang="pt-BR" dirty="0"/>
              <a:t>, </a:t>
            </a:r>
            <a:r>
              <a:rPr lang="pt-BR" dirty="0" err="1"/>
              <a:t>Descricao</a:t>
            </a:r>
            <a:r>
              <a:rPr lang="pt-BR" dirty="0"/>
              <a:t>)</a:t>
            </a:r>
            <a:endParaRPr lang="pt-BR" sz="3600" dirty="0"/>
          </a:p>
          <a:p>
            <a:pPr lvl="1"/>
            <a:r>
              <a:rPr lang="pt-BR" dirty="0"/>
              <a:t>Produto (</a:t>
            </a:r>
            <a:r>
              <a:rPr lang="pt-BR" dirty="0" err="1"/>
              <a:t>Codigo</a:t>
            </a:r>
            <a:r>
              <a:rPr lang="pt-BR" dirty="0"/>
              <a:t>, </a:t>
            </a:r>
            <a:r>
              <a:rPr lang="pt-BR" dirty="0" err="1"/>
              <a:t>Descricao</a:t>
            </a:r>
            <a:r>
              <a:rPr lang="pt-BR" dirty="0"/>
              <a:t>, </a:t>
            </a:r>
            <a:r>
              <a:rPr lang="pt-BR" dirty="0" err="1"/>
              <a:t>Preco</a:t>
            </a:r>
            <a:r>
              <a:rPr lang="pt-BR" dirty="0"/>
              <a:t>, </a:t>
            </a:r>
            <a:r>
              <a:rPr lang="pt-BR" dirty="0" err="1"/>
              <a:t>CodTipoProd</a:t>
            </a:r>
            <a:r>
              <a:rPr lang="pt-BR" dirty="0"/>
              <a:t>)</a:t>
            </a:r>
            <a:endParaRPr lang="pt-BR" sz="3600" dirty="0"/>
          </a:p>
          <a:p>
            <a:pPr lvl="1"/>
            <a:r>
              <a:rPr lang="pt-BR" dirty="0" err="1"/>
              <a:t>CodTipoProd</a:t>
            </a:r>
            <a:r>
              <a:rPr lang="pt-BR" dirty="0"/>
              <a:t> referencia </a:t>
            </a:r>
            <a:r>
              <a:rPr lang="pt-BR" dirty="0" err="1"/>
              <a:t>TipoProduto</a:t>
            </a:r>
            <a:endParaRPr lang="pt-BR" sz="3600" dirty="0"/>
          </a:p>
          <a:p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20888"/>
            <a:ext cx="7740719" cy="110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2473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Modelo Físico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dirty="0"/>
              <a:t> </a:t>
            </a:r>
            <a:endParaRPr lang="pt-BR" sz="4000" dirty="0"/>
          </a:p>
          <a:p>
            <a:r>
              <a:rPr lang="pt-BR" dirty="0"/>
              <a:t>Esse modelo depende do SGBD que está sendo usado.</a:t>
            </a:r>
            <a:endParaRPr lang="pt-BR" sz="4000" dirty="0"/>
          </a:p>
          <a:p>
            <a:pPr lvl="0"/>
            <a:endParaRPr lang="pt-BR" dirty="0" smtClean="0"/>
          </a:p>
          <a:p>
            <a:pPr lvl="0"/>
            <a:r>
              <a:rPr lang="pt-BR" dirty="0" smtClean="0"/>
              <a:t>O </a:t>
            </a:r>
            <a:r>
              <a:rPr lang="pt-BR" dirty="0"/>
              <a:t>modelo físico será construído a partir do modelo lógico e descreve as estruturas físicas de armazenamento de dados, tais como:</a:t>
            </a:r>
            <a:r>
              <a:rPr lang="pt-BR" dirty="0" smtClean="0">
                <a:effectLst/>
              </a:rPr>
              <a:t> </a:t>
            </a:r>
          </a:p>
          <a:p>
            <a:pPr lvl="1"/>
            <a:r>
              <a:rPr lang="pt-BR" dirty="0" smtClean="0"/>
              <a:t>Tipo </a:t>
            </a:r>
            <a:r>
              <a:rPr lang="pt-BR" dirty="0"/>
              <a:t>e tamanho de campos;</a:t>
            </a:r>
            <a:endParaRPr lang="pt-BR" sz="3600" dirty="0"/>
          </a:p>
          <a:p>
            <a:pPr lvl="1"/>
            <a:r>
              <a:rPr lang="pt-BR" dirty="0"/>
              <a:t>Índices;</a:t>
            </a:r>
            <a:endParaRPr lang="pt-BR" sz="3600" dirty="0"/>
          </a:p>
          <a:p>
            <a:pPr lvl="1"/>
            <a:r>
              <a:rPr lang="pt-BR" dirty="0"/>
              <a:t>Domínio de preenchimento dos campos;</a:t>
            </a:r>
            <a:endParaRPr lang="pt-BR" sz="3600" dirty="0"/>
          </a:p>
          <a:p>
            <a:pPr lvl="1"/>
            <a:r>
              <a:rPr lang="pt-BR" dirty="0"/>
              <a:t>Nomenclaturas;</a:t>
            </a:r>
            <a:endParaRPr lang="pt-BR" sz="3600" dirty="0"/>
          </a:p>
          <a:p>
            <a:pPr lvl="1"/>
            <a:r>
              <a:rPr lang="pt-BR" dirty="0"/>
              <a:t>Exigência de conteúdos;</a:t>
            </a:r>
            <a:endParaRPr lang="pt-BR" sz="3600" dirty="0"/>
          </a:p>
          <a:p>
            <a:pPr lvl="1"/>
            <a:r>
              <a:rPr lang="pt-BR" dirty="0"/>
              <a:t>Gatilhos; etc.</a:t>
            </a:r>
            <a:endParaRPr lang="pt-BR" sz="3600" dirty="0"/>
          </a:p>
          <a:p>
            <a:pPr marL="0" indent="0">
              <a:buNone/>
            </a:pPr>
            <a:endParaRPr lang="pt-BR" sz="4000" dirty="0"/>
          </a:p>
          <a:p>
            <a:r>
              <a:rPr lang="pt-BR" dirty="0"/>
              <a:t>Esta é a etapa final do projeto de banco de dados, na qual será utilizada a linguagem de definição de dados do SGBD para a realização da sua montagem no dicionário de dados. Em ambiente de banco de dados relacional denominamos script de criação do banco de dados o conjunto de comandos em SQL que será executado no SGBD para a criação do banco de dados correspondente.</a:t>
            </a:r>
            <a:endParaRPr lang="pt-BR" sz="4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3486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 Físico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BR" dirty="0" smtClean="0"/>
              <a:t>Exemplo de um script: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 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CREATE TABLE </a:t>
            </a:r>
            <a:r>
              <a:rPr lang="pt-BR" dirty="0" err="1" smtClean="0"/>
              <a:t>TipoProduto</a:t>
            </a:r>
            <a:r>
              <a:rPr lang="pt-BR" dirty="0" smtClean="0"/>
              <a:t> (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err="1" smtClean="0"/>
              <a:t>codigo</a:t>
            </a:r>
            <a:r>
              <a:rPr lang="pt-BR" dirty="0" smtClean="0"/>
              <a:t>	</a:t>
            </a:r>
            <a:r>
              <a:rPr lang="pt-BR" dirty="0" err="1" smtClean="0"/>
              <a:t>int</a:t>
            </a:r>
            <a:r>
              <a:rPr lang="pt-BR" dirty="0" smtClean="0"/>
              <a:t>, 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err="1" smtClean="0"/>
              <a:t>descricao</a:t>
            </a:r>
            <a:r>
              <a:rPr lang="pt-BR" dirty="0" smtClean="0"/>
              <a:t>	</a:t>
            </a:r>
            <a:r>
              <a:rPr lang="pt-BR" dirty="0" err="1" smtClean="0"/>
              <a:t>varchar</a:t>
            </a:r>
            <a:r>
              <a:rPr lang="pt-BR" dirty="0" smtClean="0"/>
              <a:t>(100),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err="1" smtClean="0"/>
              <a:t>constraint</a:t>
            </a:r>
            <a:r>
              <a:rPr lang="pt-BR" dirty="0" smtClean="0"/>
              <a:t> </a:t>
            </a:r>
            <a:r>
              <a:rPr lang="pt-BR" dirty="0" err="1" smtClean="0"/>
              <a:t>pk_tipo</a:t>
            </a:r>
            <a:r>
              <a:rPr lang="pt-BR" dirty="0" smtClean="0"/>
              <a:t> </a:t>
            </a:r>
            <a:r>
              <a:rPr lang="pt-BR" dirty="0" err="1" smtClean="0"/>
              <a:t>primary</a:t>
            </a:r>
            <a:r>
              <a:rPr lang="pt-BR" dirty="0" smtClean="0"/>
              <a:t> </a:t>
            </a:r>
            <a:r>
              <a:rPr lang="pt-BR" dirty="0" err="1" smtClean="0"/>
              <a:t>key</a:t>
            </a:r>
            <a:r>
              <a:rPr lang="pt-BR" dirty="0" smtClean="0"/>
              <a:t> (</a:t>
            </a:r>
            <a:r>
              <a:rPr lang="pt-BR" dirty="0" err="1" smtClean="0"/>
              <a:t>codigo</a:t>
            </a:r>
            <a:r>
              <a:rPr lang="pt-BR" dirty="0" smtClean="0"/>
              <a:t>)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);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 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CREATE TABLE Produto (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err="1" smtClean="0"/>
              <a:t>codigo</a:t>
            </a:r>
            <a:r>
              <a:rPr lang="pt-BR" dirty="0" smtClean="0"/>
              <a:t>	</a:t>
            </a:r>
            <a:r>
              <a:rPr lang="pt-BR" dirty="0" err="1" smtClean="0"/>
              <a:t>int</a:t>
            </a:r>
            <a:r>
              <a:rPr lang="pt-BR" dirty="0" smtClean="0"/>
              <a:t>, 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err="1" smtClean="0"/>
              <a:t>descricao</a:t>
            </a:r>
            <a:r>
              <a:rPr lang="pt-BR" dirty="0" smtClean="0"/>
              <a:t>	</a:t>
            </a:r>
            <a:r>
              <a:rPr lang="pt-BR" dirty="0" err="1" smtClean="0"/>
              <a:t>varchar</a:t>
            </a:r>
            <a:r>
              <a:rPr lang="pt-BR" dirty="0" smtClean="0"/>
              <a:t>(100), 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err="1" smtClean="0"/>
              <a:t>preco</a:t>
            </a:r>
            <a:r>
              <a:rPr lang="pt-BR" dirty="0" smtClean="0"/>
              <a:t>		</a:t>
            </a:r>
            <a:r>
              <a:rPr lang="pt-BR" dirty="0" err="1" smtClean="0"/>
              <a:t>numeric</a:t>
            </a:r>
            <a:r>
              <a:rPr lang="pt-BR" dirty="0" smtClean="0"/>
              <a:t>(10,2), 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err="1" smtClean="0"/>
              <a:t>codTipoProd</a:t>
            </a:r>
            <a:r>
              <a:rPr lang="pt-BR" dirty="0" smtClean="0"/>
              <a:t>	</a:t>
            </a:r>
            <a:r>
              <a:rPr lang="pt-BR" dirty="0" err="1" smtClean="0"/>
              <a:t>int</a:t>
            </a:r>
            <a:r>
              <a:rPr lang="pt-BR" dirty="0" smtClean="0"/>
              <a:t>,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err="1" smtClean="0"/>
              <a:t>constraint</a:t>
            </a:r>
            <a:r>
              <a:rPr lang="pt-BR" dirty="0" smtClean="0"/>
              <a:t> </a:t>
            </a:r>
            <a:r>
              <a:rPr lang="pt-BR" dirty="0" err="1" smtClean="0"/>
              <a:t>pk_prod</a:t>
            </a:r>
            <a:r>
              <a:rPr lang="pt-BR" dirty="0" smtClean="0"/>
              <a:t> </a:t>
            </a:r>
            <a:r>
              <a:rPr lang="pt-BR" dirty="0" err="1" smtClean="0"/>
              <a:t>primary</a:t>
            </a:r>
            <a:r>
              <a:rPr lang="pt-BR" dirty="0" smtClean="0"/>
              <a:t> </a:t>
            </a:r>
            <a:r>
              <a:rPr lang="pt-BR" dirty="0" err="1" smtClean="0"/>
              <a:t>key</a:t>
            </a:r>
            <a:r>
              <a:rPr lang="pt-BR" dirty="0" smtClean="0"/>
              <a:t> (</a:t>
            </a:r>
            <a:r>
              <a:rPr lang="pt-BR" dirty="0" err="1" smtClean="0"/>
              <a:t>codigo</a:t>
            </a:r>
            <a:r>
              <a:rPr lang="pt-BR" dirty="0" smtClean="0"/>
              <a:t>),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err="1" smtClean="0"/>
              <a:t>constraint</a:t>
            </a:r>
            <a:r>
              <a:rPr lang="pt-BR" dirty="0" smtClean="0"/>
              <a:t> </a:t>
            </a:r>
            <a:r>
              <a:rPr lang="pt-BR" dirty="0" err="1" smtClean="0"/>
              <a:t>fk_prod_tipo</a:t>
            </a:r>
            <a:r>
              <a:rPr lang="pt-BR" dirty="0" smtClean="0"/>
              <a:t> </a:t>
            </a:r>
            <a:r>
              <a:rPr lang="pt-BR" dirty="0" err="1" smtClean="0"/>
              <a:t>foreign</a:t>
            </a:r>
            <a:r>
              <a:rPr lang="pt-BR" dirty="0" smtClean="0"/>
              <a:t> </a:t>
            </a:r>
            <a:r>
              <a:rPr lang="pt-BR" dirty="0" err="1" smtClean="0"/>
              <a:t>key</a:t>
            </a:r>
            <a:r>
              <a:rPr lang="pt-BR" dirty="0" smtClean="0"/>
              <a:t> (</a:t>
            </a:r>
            <a:r>
              <a:rPr lang="pt-BR" dirty="0" err="1" smtClean="0"/>
              <a:t>codTipoProd</a:t>
            </a:r>
            <a:r>
              <a:rPr lang="pt-BR" dirty="0" smtClean="0"/>
              <a:t>) 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err="1" smtClean="0"/>
              <a:t>reference</a:t>
            </a:r>
            <a:r>
              <a:rPr lang="pt-BR" dirty="0" smtClean="0"/>
              <a:t> </a:t>
            </a:r>
            <a:r>
              <a:rPr lang="pt-BR" dirty="0" err="1" smtClean="0"/>
              <a:t>TipoProduto</a:t>
            </a:r>
            <a:r>
              <a:rPr lang="pt-BR" dirty="0" smtClean="0"/>
              <a:t> (código)</a:t>
            </a:r>
            <a:endParaRPr lang="pt-BR" sz="4000" dirty="0" smtClean="0"/>
          </a:p>
          <a:p>
            <a:pPr marL="0" indent="0">
              <a:buNone/>
            </a:pPr>
            <a:r>
              <a:rPr lang="pt-BR" dirty="0" smtClean="0"/>
              <a:t>	);</a:t>
            </a:r>
            <a:endParaRPr lang="pt-BR" sz="4000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9468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das tabelas em um banco de dados relacional</a:t>
            </a:r>
            <a:r>
              <a:rPr lang="pt-BR" dirty="0" smtClean="0"/>
              <a:t>: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52" y="1484784"/>
            <a:ext cx="8694046" cy="415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4844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pt-BR" b="1" dirty="0"/>
              <a:t>Modelo </a:t>
            </a:r>
            <a:r>
              <a:rPr lang="pt-BR" b="1" dirty="0" smtClean="0"/>
              <a:t>Entidade-Relacionamento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Modelo Entidade-Relacionamento (MER), conhecido também como Diagrama de Entidades e Relacionamentos (DER), permite representar a estrutura do banco de dados de forma conceitual, ou seja, permite determinar quais dados armazenar e os relacionamentos entre esses dados.</a:t>
            </a:r>
          </a:p>
        </p:txBody>
      </p:sp>
    </p:spTree>
    <p:extLst>
      <p:ext uri="{BB962C8B-B14F-4D97-AF65-F5344CB8AC3E}">
        <p14:creationId xmlns:p14="http://schemas.microsoft.com/office/powerpoint/2010/main" val="904941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Modelo Entidade-Relacionamento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Entidade (entidades-dados</a:t>
            </a:r>
            <a:r>
              <a:rPr lang="pt-BR" b="1" dirty="0" smtClean="0"/>
              <a:t>)</a:t>
            </a:r>
          </a:p>
          <a:p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80928"/>
            <a:ext cx="7217580" cy="1542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7422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Modelo Entidade-Relacionamento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 smtClean="0"/>
              <a:t>Atributos</a:t>
            </a:r>
          </a:p>
          <a:p>
            <a:pPr marL="0" indent="0">
              <a:buNone/>
            </a:pPr>
            <a:r>
              <a:rPr lang="pt-BR" dirty="0"/>
              <a:t>Atributos das Entidades são os tipos de informações que o sistema precisa armazenar a respeito de um conjunto de entidades, ou seja, dados que o sistema precisa armazenar para que ele realize suas tarefas de processamento. 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Por </a:t>
            </a:r>
            <a:r>
              <a:rPr lang="pt-BR" dirty="0"/>
              <a:t>exemplo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pPr marL="0" lvl="0" indent="0">
              <a:buNone/>
            </a:pPr>
            <a:r>
              <a:rPr lang="pt-BR" dirty="0"/>
              <a:t>Funcionário: </a:t>
            </a:r>
            <a:r>
              <a:rPr lang="pt-BR" dirty="0" err="1"/>
              <a:t>id_func</a:t>
            </a:r>
            <a:r>
              <a:rPr lang="pt-BR" dirty="0"/>
              <a:t>, </a:t>
            </a:r>
            <a:r>
              <a:rPr lang="pt-BR" dirty="0" err="1"/>
              <a:t>nome_func</a:t>
            </a:r>
            <a:r>
              <a:rPr lang="pt-BR" dirty="0"/>
              <a:t>, </a:t>
            </a:r>
            <a:r>
              <a:rPr lang="pt-BR" dirty="0" err="1"/>
              <a:t>end_func</a:t>
            </a:r>
            <a:r>
              <a:rPr lang="pt-BR" dirty="0"/>
              <a:t>, CPF etc..</a:t>
            </a:r>
          </a:p>
          <a:p>
            <a:pPr marL="0" lvl="0" indent="0">
              <a:buNone/>
            </a:pPr>
            <a:r>
              <a:rPr lang="pt-BR" dirty="0"/>
              <a:t>Vendas: </a:t>
            </a:r>
            <a:r>
              <a:rPr lang="pt-BR" dirty="0" err="1"/>
              <a:t>id_vend</a:t>
            </a:r>
            <a:r>
              <a:rPr lang="pt-BR" dirty="0"/>
              <a:t>, data, </a:t>
            </a:r>
            <a:r>
              <a:rPr lang="pt-BR" dirty="0" err="1"/>
              <a:t>id_func</a:t>
            </a:r>
            <a:r>
              <a:rPr lang="pt-BR" dirty="0"/>
              <a:t>, </a:t>
            </a:r>
            <a:r>
              <a:rPr lang="pt-BR" dirty="0" err="1"/>
              <a:t>valor,etc</a:t>
            </a:r>
            <a:r>
              <a:rPr lang="pt-BR" dirty="0"/>
              <a:t>...</a:t>
            </a:r>
          </a:p>
          <a:p>
            <a:pPr marL="0" lvl="0" indent="0">
              <a:buNone/>
            </a:pPr>
            <a:r>
              <a:rPr lang="pt-BR" dirty="0"/>
              <a:t>Clientes: </a:t>
            </a:r>
            <a:r>
              <a:rPr lang="pt-BR" dirty="0" err="1"/>
              <a:t>id_cli</a:t>
            </a:r>
            <a:r>
              <a:rPr lang="pt-BR" dirty="0"/>
              <a:t>, </a:t>
            </a:r>
            <a:r>
              <a:rPr lang="pt-BR" dirty="0" err="1"/>
              <a:t>nom_cli</a:t>
            </a:r>
            <a:r>
              <a:rPr lang="pt-BR" dirty="0"/>
              <a:t>, </a:t>
            </a:r>
            <a:r>
              <a:rPr lang="pt-BR" dirty="0" err="1"/>
              <a:t>tel_cli</a:t>
            </a:r>
            <a:r>
              <a:rPr lang="pt-BR" dirty="0"/>
              <a:t>, </a:t>
            </a:r>
            <a:r>
              <a:rPr lang="pt-BR" dirty="0" err="1"/>
              <a:t>end_cli</a:t>
            </a:r>
            <a:r>
              <a:rPr lang="pt-BR" dirty="0"/>
              <a:t>, </a:t>
            </a:r>
            <a:r>
              <a:rPr lang="pt-BR" dirty="0" err="1"/>
              <a:t>etc</a:t>
            </a:r>
            <a:r>
              <a:rPr lang="pt-BR" dirty="0" smtClean="0"/>
              <a:t>…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996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Modelo Entidade-Relacionamento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 Serão representados no modelo da seguinte forma:</a:t>
            </a:r>
          </a:p>
          <a:p>
            <a:pPr marL="0" indent="0">
              <a:buNone/>
            </a:pPr>
            <a:r>
              <a:rPr lang="pt-BR" dirty="0" smtClean="0"/>
              <a:t> 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780928"/>
            <a:ext cx="6768752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451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i="1" dirty="0"/>
              <a:t>Atributo Chave </a:t>
            </a:r>
            <a:r>
              <a:rPr lang="pt-BR" b="1" i="1" dirty="0" smtClean="0"/>
              <a:t>Primária</a:t>
            </a:r>
          </a:p>
          <a:p>
            <a:r>
              <a:rPr lang="pt-BR" dirty="0"/>
              <a:t>É o atributo de um conjunto de entidades que recebe valores diferentes para entidades diferentes, ou seja, o seu valor identifica uma entidade de maneira única e vice-versa.</a:t>
            </a:r>
          </a:p>
          <a:p>
            <a:r>
              <a:rPr lang="pt-BR" dirty="0"/>
              <a:t>Na prática, pode-se escolher entre os atributos da entidade, um atributo que seja capaz de identificar unicamente um registro, por exemplo, na tabela funcionários pode-se utilizar o atributo CPF como chave primária. Também é possível criar um atributo que irá receber números inteiros sequenciais sob o controle do sistema. 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Exemplo:</a:t>
            </a:r>
          </a:p>
          <a:p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579" y="4221088"/>
            <a:ext cx="6581996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4191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Relacionamentos</a:t>
            </a:r>
          </a:p>
          <a:p>
            <a:pPr marL="0" indent="0">
              <a:buNone/>
            </a:pPr>
            <a:r>
              <a:rPr lang="pt-BR" dirty="0"/>
              <a:t>Relacionamento se refere a um fato que liga duas “coisas” no mundo real. Ou seja, um relacionamento por interligar uma, duas ou mais entidades entre si.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4365104"/>
            <a:ext cx="6975083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1993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/>
              <a:t>Relacionamentos 1 : 1</a:t>
            </a: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619374"/>
            <a:ext cx="7430325" cy="26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6477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/>
              <a:t>Relacionamentos 1 : </a:t>
            </a:r>
            <a:r>
              <a:rPr lang="pt-BR" b="1" i="1" dirty="0" smtClean="0"/>
              <a:t>N</a:t>
            </a:r>
          </a:p>
          <a:p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060848"/>
            <a:ext cx="5544616" cy="4735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8085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/>
              <a:t>Relacionamentos N : N</a:t>
            </a:r>
            <a:endParaRPr lang="pt-BR" dirty="0"/>
          </a:p>
          <a:p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132855"/>
            <a:ext cx="5256584" cy="4480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26919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 err="1" smtClean="0"/>
              <a:t>Auto-Relacionamento</a:t>
            </a:r>
            <a:endParaRPr lang="pt-BR" b="1" i="1" dirty="0" smtClean="0"/>
          </a:p>
          <a:p>
            <a:pPr marL="0" indent="0">
              <a:buNone/>
            </a:pPr>
            <a:r>
              <a:rPr lang="pt-BR" dirty="0"/>
              <a:t>Representa uma associação entre ocorrências de uma mesma entidade e exige a identificação de papéis.</a:t>
            </a:r>
          </a:p>
          <a:p>
            <a:endParaRPr lang="pt-B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745281"/>
            <a:ext cx="7866253" cy="2298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5301208"/>
            <a:ext cx="3629025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6664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Chave </a:t>
            </a:r>
            <a:r>
              <a:rPr lang="pt-BR" b="1" dirty="0" smtClean="0"/>
              <a:t>estrangeira</a:t>
            </a:r>
          </a:p>
          <a:p>
            <a:pPr marL="0" indent="0">
              <a:buNone/>
            </a:pPr>
            <a:r>
              <a:rPr lang="pt-BR" dirty="0"/>
              <a:t>A coluna de uma tabela que contém valores de chave primária de outra tabela é denominada “chave estrangeira”. Como o valor da chave representa uma entidade, na coluna chave estrangeira ele indica que existe o relacionamento dessa entidade com uma outra entidade cujos dados estão na mesma linha.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10001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338" y="1986494"/>
            <a:ext cx="5725324" cy="3753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28841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1098</Words>
  <Application>Microsoft Office PowerPoint</Application>
  <PresentationFormat>Apresentação na tela (4:3)</PresentationFormat>
  <Paragraphs>194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Tema do Office</vt:lpstr>
      <vt:lpstr>Apresentação do PowerPoint</vt:lpstr>
      <vt:lpstr>Banco de Dados </vt:lpstr>
      <vt:lpstr>Sistemas de Banco de Dados</vt:lpstr>
      <vt:lpstr>Sistemas de Banco de Dados</vt:lpstr>
      <vt:lpstr>Apresentação do PowerPoint</vt:lpstr>
      <vt:lpstr>Os Problemas</vt:lpstr>
      <vt:lpstr>Os Problemas</vt:lpstr>
      <vt:lpstr>Os Problemas</vt:lpstr>
      <vt:lpstr>Os Problemas</vt:lpstr>
      <vt:lpstr>Apresentação do PowerPoint</vt:lpstr>
      <vt:lpstr>Os Problemas</vt:lpstr>
      <vt:lpstr>Linguagem de Definição de Dados (DDL)</vt:lpstr>
      <vt:lpstr>Linguagem de Definição de Dados (DDL)</vt:lpstr>
      <vt:lpstr>Linguagem de Manipulação de Dados (DML)</vt:lpstr>
      <vt:lpstr>Linguagem de Manipulação de Dados (DML)</vt:lpstr>
      <vt:lpstr>Linguagem de Controle de Dados (DCL)</vt:lpstr>
      <vt:lpstr>O Projeto de Banco de Dados</vt:lpstr>
      <vt:lpstr>Modelo Conceitual</vt:lpstr>
      <vt:lpstr>Modelo Lógico </vt:lpstr>
      <vt:lpstr>Modelo Lógico </vt:lpstr>
      <vt:lpstr>Modelo Físico</vt:lpstr>
      <vt:lpstr>Modelo Físico</vt:lpstr>
      <vt:lpstr>Exemplo das tabelas em um banco de dados relacional:</vt:lpstr>
      <vt:lpstr>Modelo Entidade-Relacionamento</vt:lpstr>
      <vt:lpstr>Modelo Entidade-Relacionamento</vt:lpstr>
      <vt:lpstr>Modelo Entidade-Relacionamento</vt:lpstr>
      <vt:lpstr>Modelo Entidade-Relacionamento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Silvio Rogerio de Lucia</dc:creator>
  <cp:lastModifiedBy>Silvio Rogerio de Lucia</cp:lastModifiedBy>
  <cp:revision>4</cp:revision>
  <dcterms:created xsi:type="dcterms:W3CDTF">2024-08-14T19:52:51Z</dcterms:created>
  <dcterms:modified xsi:type="dcterms:W3CDTF">2024-08-14T20:21:22Z</dcterms:modified>
</cp:coreProperties>
</file>