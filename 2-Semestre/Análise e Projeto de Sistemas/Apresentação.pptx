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8" r:id="rId3"/>
    <p:sldId id="269" r:id="rId4"/>
    <p:sldId id="272" r:id="rId5"/>
    <p:sldId id="271" r:id="rId6"/>
    <p:sldId id="27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6D16F-E2B9-D41E-0535-AFA42B109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2497CA-86FF-6D38-F10D-E41362231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B2BE6F-1E3D-9DA2-BA37-44499A91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9FB779-B013-89BB-FA91-57A8AD41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085877-0A88-94C5-DCEA-849D3B78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89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41E11-F1C5-3E72-2A02-989E523F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370F6-42C8-1CEF-1BF2-C72C5E519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EFB358-76CA-E61C-D119-9BC91A6F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207A89-B874-2774-ADCB-412F75D1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F68E51-6C45-EE72-9C06-A7582CC3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874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22F92-5887-C051-DFC1-8C7B163F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F09B3F-2B7E-FFE6-7AEB-FEB143EC6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FAD9A3-EF98-7B4E-7DB5-8147E244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B0E49B-A682-DC63-BDD7-3E67CEEA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3F2DDF-83D9-4B01-4A17-D5209722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26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12CDC-687D-4ADE-241C-937BAD89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F5A82F-AFF8-98F7-0453-1DDB331C1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94D83B-2FC3-17E6-6ABA-034D6E16C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BEA3CC-0F2E-5B98-CC46-C204A1E9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B921FA-A620-190B-1310-63042E8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7D5B54-B4A8-60D6-C377-73AF4563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09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46208-FAB2-3AA6-80CA-80AB8EEF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DA5AF6-D58F-8A8E-776B-A784DC41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777322-FEDB-799C-3584-EF1963C26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30317C-42E8-F4E2-B86F-E46119ECA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63047E-EE7C-A7A3-9EAC-E3BFEADD4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F42633-11EE-2BBA-2CB0-215D1C91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E49135-FD91-1576-8945-C0E2E86A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544040-3C83-1AD2-36A2-6CCADA9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50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9EB33-7E7C-B735-7553-C9B1A88A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F0698E-F167-1803-92DF-79D233C4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6CED9CA-3D83-D0E9-6484-D205AD20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6A8724-8317-973A-DA14-5F8F13C2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5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E35B47-773C-2393-0F44-5985FF51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808B53-2D30-9BEA-DB54-885C34CD4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8D161F-761E-9F01-D490-DC73A059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83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BE779-AFA5-456C-D365-FC3D44D4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363CEA-6C60-DFA5-8928-9D28D1F65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7CA086-F1C3-DDF5-9A39-79AAC71E7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FD4154-8AFC-31AF-F0CE-4AE31D7F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FF58F3-D1DB-DF0D-3905-E15ADFE9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CC6844-5FCB-4AE1-D933-084AA938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43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CA62F-429F-243C-7CB6-781011A5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1F2E068-C7D8-0147-EE90-7ECDC9D0D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1727E-3138-CD10-58B4-AC54B2A7B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959733-F5BC-377B-7C06-C2ADDAA0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40F56B-F4F9-2099-300F-B99CEBE4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B42B88-0A0B-4583-A53B-5819B4B3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64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2F44A-1CF4-830B-AC3F-10F0146D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E9E5C9-D052-4D06-7C57-FD421810E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8701E2-D3F7-1056-24B7-0773099E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B7BE8D-C2DE-4C9F-F145-98095E1E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7BFD50-DB5F-8AC6-1A0A-5CB1BDBF1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14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6DF4B3-5411-B8A9-E5DC-1F4CBF170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A5379D-6E36-8BAE-4C3C-1D6A56C64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D9979E-D1C0-DE07-A671-2D9EE88F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979EE0-1C8A-1CB4-C9DA-95C59EBD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81A942-AA17-0EAF-3C48-FA90C7D1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24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AD533A5-D2E7-44CD-0530-DFB39F5E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801B5-83F8-71EE-0A47-F14EB523A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F24360-94AD-E3A0-80DA-D6DFEA94C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93CC6-5209-4820-B0B0-6503E7FFE11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C9D9D-F3DD-6570-2AD8-6BC5D2BF3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F7FA2-BCCD-D299-000C-F7D454D7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F7F0A-1245-4EBA-9B65-EC648CBC8A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98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BF60-9187-321E-5B4D-B88FDD30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34FAF68-9167-CFD5-B2F1-953C1560FA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4DC7E750-A84A-8859-227D-26F837C0E9FE}"/>
              </a:ext>
            </a:extLst>
          </p:cNvPr>
          <p:cNvSpPr txBox="1">
            <a:spLocks/>
          </p:cNvSpPr>
          <p:nvPr/>
        </p:nvSpPr>
        <p:spPr>
          <a:xfrm>
            <a:off x="760988" y="2654038"/>
            <a:ext cx="4587759" cy="1712456"/>
          </a:xfrm>
          <a:prstGeom prst="rect">
            <a:avLst/>
          </a:prstGeom>
        </p:spPr>
        <p:txBody>
          <a:bodyPr vert="horz" wrap="square" lIns="0" tIns="8128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pt-BR" sz="3600" spc="-10" dirty="0">
                <a:solidFill>
                  <a:srgbClr val="FFFFFF"/>
                </a:solidFill>
                <a:latin typeface="Tahoma"/>
                <a:cs typeface="Tahoma"/>
              </a:rPr>
              <a:t>Análise de stakeholders</a:t>
            </a:r>
          </a:p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pt-BR" sz="1200" spc="50" dirty="0">
                <a:solidFill>
                  <a:srgbClr val="FFFFFF"/>
                </a:solidFill>
                <a:latin typeface="Microsoft JhengHei UI Light"/>
                <a:cs typeface="Microsoft JhengHei UI Light"/>
              </a:rPr>
              <a:t>(Projeto 21)</a:t>
            </a:r>
            <a:endParaRPr lang="pt-BR" sz="1200" dirty="0">
              <a:latin typeface="Microsoft JhengHei UI Light"/>
              <a:cs typeface="Microsoft JhengHei UI Ligh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AD8AD5-895F-EB30-6CAA-B7AEE73587EC}"/>
              </a:ext>
            </a:extLst>
          </p:cNvPr>
          <p:cNvSpPr txBox="1"/>
          <p:nvPr/>
        </p:nvSpPr>
        <p:spPr>
          <a:xfrm>
            <a:off x="760988" y="5499089"/>
            <a:ext cx="5521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GRUPO: ALEX ALVES, FABRICIO MARTINS, GUILHERME FERNANDES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DF0DC364-7C3D-FB11-B010-C89EC079ABB3}"/>
              </a:ext>
            </a:extLst>
          </p:cNvPr>
          <p:cNvSpPr txBox="1">
            <a:spLocks/>
          </p:cNvSpPr>
          <p:nvPr/>
        </p:nvSpPr>
        <p:spPr>
          <a:xfrm>
            <a:off x="1664959" y="1358911"/>
            <a:ext cx="2779815" cy="633507"/>
          </a:xfrm>
          <a:prstGeom prst="rect">
            <a:avLst/>
          </a:prstGeom>
        </p:spPr>
        <p:txBody>
          <a:bodyPr vert="horz" wrap="square" lIns="0" tIns="8128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pt-BR" sz="3600" b="1" spc="-1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NetSecurity</a:t>
            </a:r>
            <a:endParaRPr lang="pt-BR" sz="3600" b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5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86CA-9C84-DDE6-8B0A-76762B0B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5">
            <a:extLst>
              <a:ext uri="{FF2B5EF4-FFF2-40B4-BE49-F238E27FC236}">
                <a16:creationId xmlns:a16="http://schemas.microsoft.com/office/drawing/2014/main" id="{2D880408-576E-7A18-E71E-CBDD39660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análise de stakeholders </a:t>
            </a:r>
            <a:endParaRPr sz="3200" b="1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70C23D8E-5C0B-6AEA-8D24-FF1F8EC12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1D3B10D-2E28-F3CC-3A30-2EDB1B44D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567597"/>
              </p:ext>
            </p:extLst>
          </p:nvPr>
        </p:nvGraphicFramePr>
        <p:xfrm>
          <a:off x="571478" y="2058712"/>
          <a:ext cx="11049044" cy="326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497">
                  <a:extLst>
                    <a:ext uri="{9D8B030D-6E8A-4147-A177-3AD203B41FA5}">
                      <a16:colId xmlns:a16="http://schemas.microsoft.com/office/drawing/2014/main" val="1799526308"/>
                    </a:ext>
                  </a:extLst>
                </a:gridCol>
                <a:gridCol w="1949380">
                  <a:extLst>
                    <a:ext uri="{9D8B030D-6E8A-4147-A177-3AD203B41FA5}">
                      <a16:colId xmlns:a16="http://schemas.microsoft.com/office/drawing/2014/main" val="1347443664"/>
                    </a:ext>
                  </a:extLst>
                </a:gridCol>
                <a:gridCol w="2582426">
                  <a:extLst>
                    <a:ext uri="{9D8B030D-6E8A-4147-A177-3AD203B41FA5}">
                      <a16:colId xmlns:a16="http://schemas.microsoft.com/office/drawing/2014/main" val="1333653774"/>
                    </a:ext>
                  </a:extLst>
                </a:gridCol>
                <a:gridCol w="2602523">
                  <a:extLst>
                    <a:ext uri="{9D8B030D-6E8A-4147-A177-3AD203B41FA5}">
                      <a16:colId xmlns:a16="http://schemas.microsoft.com/office/drawing/2014/main" val="3866037668"/>
                    </a:ext>
                  </a:extLst>
                </a:gridCol>
                <a:gridCol w="1235947">
                  <a:extLst>
                    <a:ext uri="{9D8B030D-6E8A-4147-A177-3AD203B41FA5}">
                      <a16:colId xmlns:a16="http://schemas.microsoft.com/office/drawing/2014/main" val="48831454"/>
                    </a:ext>
                  </a:extLst>
                </a:gridCol>
                <a:gridCol w="1095271">
                  <a:extLst>
                    <a:ext uri="{9D8B030D-6E8A-4147-A177-3AD203B41FA5}">
                      <a16:colId xmlns:a16="http://schemas.microsoft.com/office/drawing/2014/main" val="3292385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Stakeholder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Responsabilidade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Impacto Negativo (Risco)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Impacto Positivo (Valor)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Influência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Interesse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936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/>
                        <a:t>Proprietários </a:t>
                      </a:r>
                      <a:r>
                        <a:rPr lang="pt-BR" sz="1600" b="1" dirty="0" err="1"/>
                        <a:t>PMEs</a:t>
                      </a:r>
                      <a:endParaRPr lang="pt-BR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Patrocínio e Decisão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Perda financeira por fraudes.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Segurança do patrimônio e compliance.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8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Admin de 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Gestão do Sistema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Sobrecarga por falsos alertas.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Controle total e visão de riscos.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Média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78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/>
                        <a:t>Colaboradores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Uso do Sistema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Bloqueios indevidos no login.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Proteção de conta sem senhas complexas.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Baixa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Média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647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b="1" dirty="0"/>
                        <a:t>Equipe de </a:t>
                      </a:r>
                      <a:r>
                        <a:rPr lang="pt-BR" sz="1600" b="1" dirty="0" err="1"/>
                        <a:t>Dev</a:t>
                      </a:r>
                      <a:endParaRPr lang="pt-BR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Execução Técnica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Atrasos na integração da IA.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Inovação técnica e UI funcional.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486728"/>
                  </a:ext>
                </a:extLst>
              </a:tr>
              <a:tr h="283333">
                <a:tc>
                  <a:txBody>
                    <a:bodyPr/>
                    <a:lstStyle/>
                    <a:p>
                      <a:r>
                        <a:rPr lang="pt-BR" sz="1600" b="1" dirty="0"/>
                        <a:t>Órgãos Reguladores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Fiscalização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Multas pesadas (LGPD).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Garantia de ética e transparência.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Baixa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669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64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9720B-DFE0-88AE-675D-57F17E83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5">
            <a:extLst>
              <a:ext uri="{FF2B5EF4-FFF2-40B4-BE49-F238E27FC236}">
                <a16:creationId xmlns:a16="http://schemas.microsoft.com/office/drawing/2014/main" id="{5106F687-C9F6-A766-DA25-1F7F2A5B4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2233" y="659921"/>
            <a:ext cx="736954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10" dirty="0">
                <a:solidFill>
                  <a:srgbClr val="434343"/>
                </a:solidFill>
                <a:latin typeface="Trebuchet MS"/>
              </a:rPr>
              <a:t>Tabela de influência/poder e interesse</a:t>
            </a:r>
            <a:endParaRPr sz="3200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43E306FD-117D-CD16-7C37-1A1FA9CC3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5AD1D15-4584-821B-9269-D7DC3FB8D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092566"/>
              </p:ext>
            </p:extLst>
          </p:nvPr>
        </p:nvGraphicFramePr>
        <p:xfrm>
          <a:off x="1469957" y="1886735"/>
          <a:ext cx="9727037" cy="39453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20468">
                  <a:extLst>
                    <a:ext uri="{9D8B030D-6E8A-4147-A177-3AD203B41FA5}">
                      <a16:colId xmlns:a16="http://schemas.microsoft.com/office/drawing/2014/main" val="1799526308"/>
                    </a:ext>
                  </a:extLst>
                </a:gridCol>
                <a:gridCol w="2147660">
                  <a:extLst>
                    <a:ext uri="{9D8B030D-6E8A-4147-A177-3AD203B41FA5}">
                      <a16:colId xmlns:a16="http://schemas.microsoft.com/office/drawing/2014/main" val="1347443664"/>
                    </a:ext>
                  </a:extLst>
                </a:gridCol>
                <a:gridCol w="5358909">
                  <a:extLst>
                    <a:ext uri="{9D8B030D-6E8A-4147-A177-3AD203B41FA5}">
                      <a16:colId xmlns:a16="http://schemas.microsoft.com/office/drawing/2014/main" val="1333653774"/>
                    </a:ext>
                  </a:extLst>
                </a:gridCol>
              </a:tblGrid>
              <a:tr h="661050"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</a:rPr>
                        <a:t>Stakeholder</a:t>
                      </a:r>
                      <a:endParaRPr lang="pt-B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Quadrante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Justificativa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936105"/>
                  </a:ext>
                </a:extLst>
              </a:tr>
              <a:tr h="66105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Proprietários </a:t>
                      </a:r>
                      <a:r>
                        <a:rPr lang="pt-BR" sz="18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PMEs</a:t>
                      </a:r>
                      <a:endParaRPr lang="pt-BR" sz="1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Gerenciar de Perto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dk1"/>
                          </a:solidFill>
                        </a:rPr>
                        <a:t>Têm o poder financeiro e o maior interesse no sucesso do negócio.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81298"/>
                  </a:ext>
                </a:extLst>
              </a:tr>
              <a:tr h="66105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Equipe de </a:t>
                      </a:r>
                      <a:r>
                        <a:rPr lang="pt-BR" sz="18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Dev</a:t>
                      </a:r>
                      <a:endParaRPr lang="pt-BR" sz="1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Gerenciar de Perto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dk1"/>
                          </a:solidFill>
                        </a:rPr>
                        <a:t>Detêm o conhecimento técnico essencial para a entrega do produto.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785116"/>
                  </a:ext>
                </a:extLst>
              </a:tr>
              <a:tr h="66105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Admin de 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Manter Informado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dk1"/>
                          </a:solidFill>
                        </a:rPr>
                        <a:t>Grande interesse na operação, mas segue as ordens dos proprietário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647109"/>
                  </a:ext>
                </a:extLst>
              </a:tr>
              <a:tr h="661050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Órgãos Reguladores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Manter Satisfeito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dirty="0"/>
                        <a:t>Alto poder de interdição (multas), mas baixo interesse no dia a dia.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486728"/>
                  </a:ext>
                </a:extLst>
              </a:tr>
              <a:tr h="543329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Monitorar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dirty="0"/>
                        <a:t>Pouco poder de decisão e interesse limitado à facilidade de uso.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669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15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A6F41-F62E-5864-F67C-1F19E88E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5">
            <a:extLst>
              <a:ext uri="{FF2B5EF4-FFF2-40B4-BE49-F238E27FC236}">
                <a16:creationId xmlns:a16="http://schemas.microsoft.com/office/drawing/2014/main" id="{DFF9F9F6-8DE2-35AB-6919-EC3B61128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Matriz de influência</a:t>
            </a:r>
            <a:endParaRPr lang="pt-BR" sz="3200" b="1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4FB3AA2D-E4A3-B026-8776-FD97509C4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2C1A92E-BE66-5D5F-9839-05D7C1D67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247049"/>
              </p:ext>
            </p:extLst>
          </p:nvPr>
        </p:nvGraphicFramePr>
        <p:xfrm>
          <a:off x="1908524" y="2574085"/>
          <a:ext cx="8374952" cy="2103120"/>
        </p:xfrm>
        <a:graphic>
          <a:graphicData uri="http://schemas.openxmlformats.org/drawingml/2006/table">
            <a:tbl>
              <a:tblPr/>
              <a:tblGrid>
                <a:gridCol w="1364552">
                  <a:extLst>
                    <a:ext uri="{9D8B030D-6E8A-4147-A177-3AD203B41FA5}">
                      <a16:colId xmlns:a16="http://schemas.microsoft.com/office/drawing/2014/main" val="40625701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77095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74964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pt-BR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Baixo Interesse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Alto Interesse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74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Alto Poder</a:t>
                      </a:r>
                      <a:endParaRPr lang="pt-BR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Manter Satisfeito:</a:t>
                      </a:r>
                      <a:r>
                        <a:rPr lang="pt-B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Órgãos Reguladores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Gerenciar de Perto:</a:t>
                      </a:r>
                      <a:r>
                        <a:rPr lang="pt-B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Proprietários </a:t>
                      </a:r>
                      <a:r>
                        <a:rPr lang="pt-BR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PMEs</a:t>
                      </a:r>
                      <a:r>
                        <a:rPr lang="pt-B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Equipe de </a:t>
                      </a:r>
                      <a:r>
                        <a:rPr lang="pt-BR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</a:t>
                      </a:r>
                      <a:endParaRPr lang="pt-B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9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Baixo Poder</a:t>
                      </a:r>
                      <a:endParaRPr lang="pt-BR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Monitorar:</a:t>
                      </a:r>
                      <a:r>
                        <a:rPr lang="pt-B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Colaboradores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Manter Informado:</a:t>
                      </a:r>
                      <a:r>
                        <a:rPr lang="pt-B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Administradores de TI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6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383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9BF7-82E3-9E10-B3CF-F1831E30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5">
            <a:extLst>
              <a:ext uri="{FF2B5EF4-FFF2-40B4-BE49-F238E27FC236}">
                <a16:creationId xmlns:a16="http://schemas.microsoft.com/office/drawing/2014/main" id="{2EC50680-95A5-DEC6-38A9-B5E5E39DE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2233" y="659921"/>
            <a:ext cx="556069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pt-BR" sz="3200" spc="-25" dirty="0">
                <a:solidFill>
                  <a:srgbClr val="434343"/>
                </a:solidFill>
                <a:latin typeface="Trebuchet MS"/>
              </a:rPr>
              <a:t>Funcionalidades Sprint 4</a:t>
            </a:r>
            <a:endParaRPr sz="3200" b="1" spc="-10" dirty="0">
              <a:solidFill>
                <a:srgbClr val="434343"/>
              </a:solidFill>
              <a:latin typeface="Trebuchet MS"/>
            </a:endParaRP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1CC37E5C-A933-AA23-9FBC-D9737E771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781" y="340239"/>
            <a:ext cx="803319" cy="639364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4A082BA-A16C-61DD-2CCF-AE5979036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702813"/>
              </p:ext>
            </p:extLst>
          </p:nvPr>
        </p:nvGraphicFramePr>
        <p:xfrm>
          <a:off x="2086116" y="1815996"/>
          <a:ext cx="8019768" cy="43973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3704">
                  <a:extLst>
                    <a:ext uri="{9D8B030D-6E8A-4147-A177-3AD203B41FA5}">
                      <a16:colId xmlns:a16="http://schemas.microsoft.com/office/drawing/2014/main" val="2460311043"/>
                    </a:ext>
                  </a:extLst>
                </a:gridCol>
                <a:gridCol w="3268897">
                  <a:extLst>
                    <a:ext uri="{9D8B030D-6E8A-4147-A177-3AD203B41FA5}">
                      <a16:colId xmlns:a16="http://schemas.microsoft.com/office/drawing/2014/main" val="3418917949"/>
                    </a:ext>
                  </a:extLst>
                </a:gridCol>
                <a:gridCol w="2767167">
                  <a:extLst>
                    <a:ext uri="{9D8B030D-6E8A-4147-A177-3AD203B41FA5}">
                      <a16:colId xmlns:a16="http://schemas.microsoft.com/office/drawing/2014/main" val="876830035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Funcionalidade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Critérios de Aceite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Tarefas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333865"/>
                  </a:ext>
                </a:extLst>
              </a:tr>
              <a:tr h="1023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 dirty="0"/>
                        <a:t>Gestão de Sensibilidade</a:t>
                      </a:r>
                      <a:endParaRPr lang="pt-BR" sz="130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/>
                        <a:t>Admin deve ajustar níveis de risco e salvar as configurações no sistema.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/>
                        <a:t>- UI </a:t>
                      </a:r>
                      <a:r>
                        <a:rPr lang="pt-BR" sz="1300" dirty="0" err="1"/>
                        <a:t>Sliders</a:t>
                      </a:r>
                      <a:r>
                        <a:rPr lang="pt-BR" sz="1300" dirty="0"/>
                        <a:t> (</a:t>
                      </a:r>
                      <a:r>
                        <a:rPr lang="pt-BR" sz="1300" dirty="0" err="1"/>
                        <a:t>Ant</a:t>
                      </a:r>
                      <a:r>
                        <a:rPr lang="pt-BR" sz="1300" dirty="0"/>
                        <a:t> Design).</a:t>
                      </a:r>
                    </a:p>
                    <a:p>
                      <a:pPr>
                        <a:buNone/>
                      </a:pPr>
                      <a:r>
                        <a:rPr lang="pt-BR" sz="1300" dirty="0"/>
                        <a:t>- Implementar </a:t>
                      </a:r>
                      <a:r>
                        <a:rPr lang="pt-BR" sz="1300" dirty="0" err="1"/>
                        <a:t>Mock</a:t>
                      </a:r>
                      <a:r>
                        <a:rPr lang="pt-BR" sz="1300" dirty="0"/>
                        <a:t> de persistência.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190109"/>
                  </a:ext>
                </a:extLst>
              </a:tr>
              <a:tr h="1023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 dirty="0"/>
                        <a:t>Auditoria de Logs</a:t>
                      </a:r>
                      <a:endParaRPr lang="pt-BR" sz="130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/>
                        <a:t>Tabela funcional com busca e filtragem por nível de risco.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/>
                        <a:t>- Lógica de filtro em JS.</a:t>
                      </a:r>
                    </a:p>
                    <a:p>
                      <a:pPr>
                        <a:buNone/>
                      </a:pPr>
                      <a:br>
                        <a:rPr lang="pt-BR" sz="1300" dirty="0"/>
                      </a:br>
                      <a:endParaRPr lang="pt-BR" sz="1300" dirty="0"/>
                    </a:p>
                    <a:p>
                      <a:pPr>
                        <a:buNone/>
                      </a:pPr>
                      <a:r>
                        <a:rPr lang="pt-BR" sz="1300" dirty="0"/>
                        <a:t>- Formatação visual de logs críticos.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198812"/>
                  </a:ext>
                </a:extLst>
              </a:tr>
              <a:tr h="1215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 dirty="0"/>
                        <a:t>Contratos de API</a:t>
                      </a:r>
                      <a:endParaRPr lang="pt-BR" sz="130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/>
                        <a:t>Payloads de telemetria definidos e documentados no sistema.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/>
                        <a:t>- Mapeamento JSON de </a:t>
                      </a:r>
                      <a:r>
                        <a:rPr lang="pt-BR" sz="1300" dirty="0" err="1"/>
                        <a:t>Keystroke</a:t>
                      </a:r>
                      <a:r>
                        <a:rPr lang="pt-BR" sz="1300" dirty="0"/>
                        <a:t>.</a:t>
                      </a:r>
                    </a:p>
                    <a:p>
                      <a:pPr>
                        <a:buNone/>
                      </a:pPr>
                      <a:br>
                        <a:rPr lang="pt-BR" sz="1300" dirty="0"/>
                      </a:br>
                      <a:endParaRPr lang="pt-BR" sz="1300" dirty="0"/>
                    </a:p>
                    <a:p>
                      <a:pPr>
                        <a:buNone/>
                      </a:pPr>
                      <a:r>
                        <a:rPr lang="pt-BR" sz="1300" dirty="0"/>
                        <a:t>- Definição de rotas de integração.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297086"/>
                  </a:ext>
                </a:extLst>
              </a:tr>
              <a:tr h="831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b="1" dirty="0"/>
                        <a:t>Refinamento Visual</a:t>
                      </a:r>
                      <a:endParaRPr lang="pt-BR" sz="130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/>
                        <a:t>Sistema validado em Dark/Light mode e responsividade mobile.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 dirty="0"/>
                        <a:t>- Polimento CSS/</a:t>
                      </a:r>
                      <a:r>
                        <a:rPr lang="pt-BR" sz="1300" dirty="0" err="1"/>
                        <a:t>Tailwind</a:t>
                      </a:r>
                      <a:r>
                        <a:rPr lang="pt-BR" sz="1300" dirty="0"/>
                        <a:t>.</a:t>
                      </a:r>
                    </a:p>
                    <a:p>
                      <a:pPr>
                        <a:buNone/>
                      </a:pPr>
                      <a:br>
                        <a:rPr lang="pt-BR" sz="1300" dirty="0"/>
                      </a:br>
                      <a:endParaRPr lang="pt-BR" sz="1300" dirty="0"/>
                    </a:p>
                    <a:p>
                      <a:pPr>
                        <a:buNone/>
                      </a:pPr>
                      <a:r>
                        <a:rPr lang="pt-BR" sz="1300" dirty="0"/>
                        <a:t>- Testes de consistência visual.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15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15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B707-6A21-A845-B8A7-930BCCDB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FCA79CBE-B129-C973-CEC5-BF3B62E41D91}"/>
              </a:ext>
            </a:extLst>
          </p:cNvPr>
          <p:cNvPicPr/>
          <p:nvPr/>
        </p:nvPicPr>
        <p:blipFill>
          <a:blip r:embed="rId2" cstate="print">
            <a:lum bright="70000" contrast="-70000"/>
          </a:blip>
          <a:stretch>
            <a:fillRect/>
          </a:stretch>
        </p:blipFill>
        <p:spPr>
          <a:xfrm>
            <a:off x="0" y="0"/>
            <a:ext cx="12188952" cy="685799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923BA4-6619-5D3A-3D02-0D756C965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435" y="2512087"/>
            <a:ext cx="2304082" cy="183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30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373</Words>
  <Application>Microsoft Office PowerPoint</Application>
  <PresentationFormat>Widescreen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Microsoft JhengHei UI Light</vt:lpstr>
      <vt:lpstr>Aptos</vt:lpstr>
      <vt:lpstr>Aptos Display</vt:lpstr>
      <vt:lpstr>Arial</vt:lpstr>
      <vt:lpstr>Google Sans Text</vt:lpstr>
      <vt:lpstr>Tahoma</vt:lpstr>
      <vt:lpstr>Trebuchet MS</vt:lpstr>
      <vt:lpstr>Tema do Office</vt:lpstr>
      <vt:lpstr>Apresentação do PowerPoint</vt:lpstr>
      <vt:lpstr>análise de stakeholders </vt:lpstr>
      <vt:lpstr>Tabela de influência/poder e interesse</vt:lpstr>
      <vt:lpstr>Matriz de influência</vt:lpstr>
      <vt:lpstr>Funcionalidades Sprint 4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</dc:creator>
  <cp:lastModifiedBy>FELIPE SILVA</cp:lastModifiedBy>
  <cp:revision>4</cp:revision>
  <dcterms:created xsi:type="dcterms:W3CDTF">2026-04-26T18:23:49Z</dcterms:created>
  <dcterms:modified xsi:type="dcterms:W3CDTF">2026-04-30T02:55:15Z</dcterms:modified>
</cp:coreProperties>
</file>