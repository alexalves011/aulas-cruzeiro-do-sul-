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0" r:id="rId2"/>
    <p:sldId id="262" r:id="rId3"/>
    <p:sldId id="263" r:id="rId4"/>
    <p:sldId id="265" r:id="rId5"/>
    <p:sldId id="264" r:id="rId6"/>
    <p:sldId id="266" r:id="rId7"/>
    <p:sldId id="268" r:id="rId8"/>
    <p:sldId id="267" r:id="rId9"/>
    <p:sldId id="269" r:id="rId10"/>
    <p:sldId id="272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17B186-982C-40A9-BCF9-88F010AB915D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7A51EF-FD89-44C7-98F2-E4DB0BC99F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3499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A51EF-FD89-44C7-98F2-E4DB0BC99FE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1606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96F9CD-FEAE-6110-DFF7-067E3982C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545D8D-7BA2-E225-6CD0-3A148ED34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88875B-A5E2-3831-469B-02E758FFB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B3FEB-F403-466B-9C0F-EF3515CDE34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D4EC54-1BC9-B3B7-CD2E-7381F36E2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18B39C-24C8-4ABA-8C6C-6A39B9533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44B2-2D79-4A34-BBFC-669B0F4DC0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8148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C9304-BF30-2769-34DD-839C1BC45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9A37B0-CB5B-4BDC-5B96-97183C96D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F8E6D5-0B24-3695-25D7-F8F48DD2D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B3FEB-F403-466B-9C0F-EF3515CDE34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3D7834-D504-3A0E-76E5-03D19C4BE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25B096-950C-A2CC-9F73-435E5D79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44B2-2D79-4A34-BBFC-669B0F4DC0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8302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3E207E-1ED3-1FD8-5076-1C9F67304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10851E-60D8-0ECC-A858-6D3793040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8A7111-C153-77A7-98CD-C49616C1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B3FEB-F403-466B-9C0F-EF3515CDE34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2B616E-D6DD-80BB-297A-C38C17FAB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737B61-341C-E0F7-4507-EA4018414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44B2-2D79-4A34-BBFC-669B0F4DC0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6807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BD5003-7C5B-CD85-CE0F-BE6EA88E7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0D6A72-7CE5-2232-785D-9962531A93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C975FED-8BB9-1016-0DF3-A731F0E80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78E3456-8F47-5F6A-27D2-094508128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B3FEB-F403-466B-9C0F-EF3515CDE34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6F97B-12DE-053A-E725-50A77D2F9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B814184-CA30-7F72-618A-7B00316E5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44B2-2D79-4A34-BBFC-669B0F4DC0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8618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E665DD-5CB0-57B0-3803-AC2FDE263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06109E5-8173-AF69-47E9-FA27B5C1E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603A19-4ADF-715C-DC86-7FB685195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0CFFE34-DAE8-C0EE-CA3B-9CC54CC7A5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C36ED30-29D9-F51C-E31E-C0F39F690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1F012CC-A6F3-3E8F-4D28-0554E3DC4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B3FEB-F403-466B-9C0F-EF3515CDE34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2EA979A-F236-5523-439F-1AFA4BB7B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F81867A-90EF-FC4B-C811-49F65C832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44B2-2D79-4A34-BBFC-669B0F4DC0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16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490C5C-7FFF-B11F-F3CE-1199600F3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317BA23-8829-2E78-7B95-601DF7B66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B3FEB-F403-466B-9C0F-EF3515CDE34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6AD4C47-816C-B835-9613-B1D9F0F56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FABF8AC-5805-CEA1-57AD-EA09DD272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44B2-2D79-4A34-BBFC-669B0F4DC0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403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B4572C5-BBF6-3795-0797-6C517302A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B3FEB-F403-466B-9C0F-EF3515CDE34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1259057-5403-4CFF-FD00-9E42475CA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7D7ADE-80E5-E1E8-4CF1-14DC3935F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44B2-2D79-4A34-BBFC-669B0F4DC0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1860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3CD3DB-EA52-F425-51E6-FB7708DE5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AC0A59-365F-79ED-D314-8768736FE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715F5CE-C5A9-A6AF-A2DB-06B4C9103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FE4289-36F2-8E5B-E0CF-DF18D993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B3FEB-F403-466B-9C0F-EF3515CDE34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1D53CEB-EA08-31E9-C68F-3718C5120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3F925E-6245-FD66-8072-4800880A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44B2-2D79-4A34-BBFC-669B0F4DC0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2376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CC50A6-9C87-8F9B-247A-6A1C9CC10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53FCD35-A75E-33B6-4F06-6766CD9ECB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50CE0A7-D354-199A-2674-4B8484029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68A3911-B801-0CCF-9BCF-D035C5043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B3FEB-F403-466B-9C0F-EF3515CDE34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2B3FD6-9DDD-741B-67B3-C1B37E5FA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866263-F2FD-7C1F-55EB-5D00E2B3A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44B2-2D79-4A34-BBFC-669B0F4DC0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200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D22AF3-CE83-4402-23A5-9167B3319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4F281C8-B259-08C6-DB2B-271A18CF6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008507-A12A-326A-A972-A756E2B4D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B3FEB-F403-466B-9C0F-EF3515CDE34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BAEC95-4BAC-60FC-B2CE-F604C4C65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970121-D33A-9F75-9294-6A6CB20A2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44B2-2D79-4A34-BBFC-669B0F4DC0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4916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831E798-CCDB-492B-5CDF-79BA8A58E7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585AEFE-18F0-084C-FFFF-7830EEF27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44E875-56A6-C314-A9C3-4DE363AA5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B3FEB-F403-466B-9C0F-EF3515CDE34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9A1619-D113-8A61-2F13-C88625F09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66812E-0E3D-6B35-E098-29A9490A3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44B2-2D79-4A34-BBFC-669B0F4DC0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458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E2083E5-9FED-1A2C-2E25-1DE9B0913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3BD8AB-0532-1233-88F9-155C18358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37F307-27A8-4948-0411-1B838A3DFB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3B3FEB-F403-466B-9C0F-EF3515CDE34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1DB5D2-3A6B-83AE-3ED0-351429795A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DFE691-6395-DD1D-3464-030651102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5F44B2-2D79-4A34-BBFC-669B0F4DC0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4484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BDBF60-9187-321E-5B4D-B88FDD304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34FAF68-9167-CFD5-B2F1-953C1560FA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4DC7E750-A84A-8859-227D-26F837C0E9FE}"/>
              </a:ext>
            </a:extLst>
          </p:cNvPr>
          <p:cNvSpPr txBox="1">
            <a:spLocks/>
          </p:cNvSpPr>
          <p:nvPr/>
        </p:nvSpPr>
        <p:spPr>
          <a:xfrm>
            <a:off x="760988" y="2932768"/>
            <a:ext cx="4587759" cy="1433726"/>
          </a:xfrm>
          <a:prstGeom prst="rect">
            <a:avLst/>
          </a:prstGeom>
        </p:spPr>
        <p:txBody>
          <a:bodyPr vert="horz" wrap="square" lIns="0" tIns="8128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lang="pt-BR" sz="3600" spc="-10" dirty="0">
                <a:solidFill>
                  <a:srgbClr val="FFFFFF"/>
                </a:solidFill>
                <a:latin typeface="Tahoma"/>
                <a:cs typeface="Tahoma"/>
              </a:rPr>
              <a:t>Gestor de Identidade e Acesso</a:t>
            </a:r>
            <a:endParaRPr lang="pt-BR" sz="36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lang="pt-BR" sz="1200" spc="50" dirty="0">
                <a:solidFill>
                  <a:srgbClr val="FFFFFF"/>
                </a:solidFill>
                <a:latin typeface="Microsoft JhengHei UI Light"/>
                <a:cs typeface="Microsoft JhengHei UI Light"/>
              </a:rPr>
              <a:t>(Projeto 21)</a:t>
            </a:r>
            <a:endParaRPr lang="pt-BR" sz="1200" dirty="0">
              <a:latin typeface="Microsoft JhengHei UI Light"/>
              <a:cs typeface="Microsoft JhengHei UI Light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EAD8AD5-895F-EB30-6CAA-B7AEE73587EC}"/>
              </a:ext>
            </a:extLst>
          </p:cNvPr>
          <p:cNvSpPr txBox="1"/>
          <p:nvPr/>
        </p:nvSpPr>
        <p:spPr>
          <a:xfrm>
            <a:off x="760988" y="6085635"/>
            <a:ext cx="5521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GRUPO: ALEX ALVS, FABRICIO MARTINS, GUILHERME FERNANDES</a:t>
            </a: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DF0DC364-7C3D-FB11-B010-C89EC079ABB3}"/>
              </a:ext>
            </a:extLst>
          </p:cNvPr>
          <p:cNvSpPr txBox="1">
            <a:spLocks/>
          </p:cNvSpPr>
          <p:nvPr/>
        </p:nvSpPr>
        <p:spPr>
          <a:xfrm>
            <a:off x="1664959" y="1358911"/>
            <a:ext cx="2779815" cy="633507"/>
          </a:xfrm>
          <a:prstGeom prst="rect">
            <a:avLst/>
          </a:prstGeom>
        </p:spPr>
        <p:txBody>
          <a:bodyPr vert="horz" wrap="square" lIns="0" tIns="8128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lang="pt-BR" sz="3600" b="1" spc="-1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NetSecurity</a:t>
            </a:r>
            <a:endParaRPr lang="pt-BR" sz="3600" b="1" spc="-1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53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object 2">
            <a:extLst>
              <a:ext uri="{FF2B5EF4-FFF2-40B4-BE49-F238E27FC236}">
                <a16:creationId xmlns:a16="http://schemas.microsoft.com/office/drawing/2014/main" id="{36EAA42F-E268-2E2C-2B91-DAFBA98AF146}"/>
              </a:ext>
            </a:extLst>
          </p:cNvPr>
          <p:cNvSpPr/>
          <p:nvPr/>
        </p:nvSpPr>
        <p:spPr>
          <a:xfrm>
            <a:off x="8124592" y="2062840"/>
            <a:ext cx="2350135" cy="4377055"/>
          </a:xfrm>
          <a:custGeom>
            <a:avLst/>
            <a:gdLst/>
            <a:ahLst/>
            <a:cxnLst/>
            <a:rect l="l" t="t" r="r" b="b"/>
            <a:pathLst>
              <a:path w="2350134" h="4377055">
                <a:moveTo>
                  <a:pt x="2350008" y="0"/>
                </a:moveTo>
                <a:lnTo>
                  <a:pt x="254380" y="0"/>
                </a:lnTo>
                <a:lnTo>
                  <a:pt x="208663" y="4099"/>
                </a:lnTo>
                <a:lnTo>
                  <a:pt x="165630" y="15918"/>
                </a:lnTo>
                <a:lnTo>
                  <a:pt x="126002" y="34736"/>
                </a:lnTo>
                <a:lnTo>
                  <a:pt x="90498" y="59836"/>
                </a:lnTo>
                <a:lnTo>
                  <a:pt x="59836" y="90498"/>
                </a:lnTo>
                <a:lnTo>
                  <a:pt x="34736" y="126002"/>
                </a:lnTo>
                <a:lnTo>
                  <a:pt x="15918" y="165630"/>
                </a:lnTo>
                <a:lnTo>
                  <a:pt x="4099" y="208663"/>
                </a:lnTo>
                <a:lnTo>
                  <a:pt x="0" y="254380"/>
                </a:lnTo>
                <a:lnTo>
                  <a:pt x="0" y="4376928"/>
                </a:lnTo>
                <a:lnTo>
                  <a:pt x="2095627" y="4376928"/>
                </a:lnTo>
                <a:lnTo>
                  <a:pt x="2141344" y="4372828"/>
                </a:lnTo>
                <a:lnTo>
                  <a:pt x="2184377" y="4361009"/>
                </a:lnTo>
                <a:lnTo>
                  <a:pt x="2224005" y="4342189"/>
                </a:lnTo>
                <a:lnTo>
                  <a:pt x="2259509" y="4317086"/>
                </a:lnTo>
                <a:lnTo>
                  <a:pt x="2290171" y="4286420"/>
                </a:lnTo>
                <a:lnTo>
                  <a:pt x="2315271" y="4250910"/>
                </a:lnTo>
                <a:lnTo>
                  <a:pt x="2334089" y="4211273"/>
                </a:lnTo>
                <a:lnTo>
                  <a:pt x="2345908" y="4168229"/>
                </a:lnTo>
                <a:lnTo>
                  <a:pt x="2350008" y="4122496"/>
                </a:lnTo>
                <a:lnTo>
                  <a:pt x="235000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3">
            <a:extLst>
              <a:ext uri="{FF2B5EF4-FFF2-40B4-BE49-F238E27FC236}">
                <a16:creationId xmlns:a16="http://schemas.microsoft.com/office/drawing/2014/main" id="{2E210BCF-9B01-970B-4E39-C1C0E422D5EC}"/>
              </a:ext>
            </a:extLst>
          </p:cNvPr>
          <p:cNvSpPr/>
          <p:nvPr/>
        </p:nvSpPr>
        <p:spPr>
          <a:xfrm>
            <a:off x="5081164" y="2062840"/>
            <a:ext cx="2350135" cy="4377055"/>
          </a:xfrm>
          <a:custGeom>
            <a:avLst/>
            <a:gdLst/>
            <a:ahLst/>
            <a:cxnLst/>
            <a:rect l="l" t="t" r="r" b="b"/>
            <a:pathLst>
              <a:path w="2350135" h="4377055">
                <a:moveTo>
                  <a:pt x="2350008" y="0"/>
                </a:moveTo>
                <a:lnTo>
                  <a:pt x="254381" y="0"/>
                </a:lnTo>
                <a:lnTo>
                  <a:pt x="208663" y="4099"/>
                </a:lnTo>
                <a:lnTo>
                  <a:pt x="165630" y="15918"/>
                </a:lnTo>
                <a:lnTo>
                  <a:pt x="126002" y="34736"/>
                </a:lnTo>
                <a:lnTo>
                  <a:pt x="90498" y="59836"/>
                </a:lnTo>
                <a:lnTo>
                  <a:pt x="59836" y="90498"/>
                </a:lnTo>
                <a:lnTo>
                  <a:pt x="34736" y="126002"/>
                </a:lnTo>
                <a:lnTo>
                  <a:pt x="15918" y="165630"/>
                </a:lnTo>
                <a:lnTo>
                  <a:pt x="4099" y="208663"/>
                </a:lnTo>
                <a:lnTo>
                  <a:pt x="0" y="254380"/>
                </a:lnTo>
                <a:lnTo>
                  <a:pt x="0" y="4376928"/>
                </a:lnTo>
                <a:lnTo>
                  <a:pt x="2095627" y="4376928"/>
                </a:lnTo>
                <a:lnTo>
                  <a:pt x="2141344" y="4372828"/>
                </a:lnTo>
                <a:lnTo>
                  <a:pt x="2184377" y="4361009"/>
                </a:lnTo>
                <a:lnTo>
                  <a:pt x="2224005" y="4342189"/>
                </a:lnTo>
                <a:lnTo>
                  <a:pt x="2259509" y="4317086"/>
                </a:lnTo>
                <a:lnTo>
                  <a:pt x="2290171" y="4286420"/>
                </a:lnTo>
                <a:lnTo>
                  <a:pt x="2315271" y="4250910"/>
                </a:lnTo>
                <a:lnTo>
                  <a:pt x="2334089" y="4211273"/>
                </a:lnTo>
                <a:lnTo>
                  <a:pt x="2345908" y="4168229"/>
                </a:lnTo>
                <a:lnTo>
                  <a:pt x="2350008" y="4122496"/>
                </a:lnTo>
                <a:lnTo>
                  <a:pt x="235000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4">
            <a:extLst>
              <a:ext uri="{FF2B5EF4-FFF2-40B4-BE49-F238E27FC236}">
                <a16:creationId xmlns:a16="http://schemas.microsoft.com/office/drawing/2014/main" id="{DC17FC0F-D15F-009A-EA45-3457B9C34BAB}"/>
              </a:ext>
            </a:extLst>
          </p:cNvPr>
          <p:cNvSpPr/>
          <p:nvPr/>
        </p:nvSpPr>
        <p:spPr>
          <a:xfrm>
            <a:off x="2037736" y="2062840"/>
            <a:ext cx="2350135" cy="4377055"/>
          </a:xfrm>
          <a:custGeom>
            <a:avLst/>
            <a:gdLst/>
            <a:ahLst/>
            <a:cxnLst/>
            <a:rect l="l" t="t" r="r" b="b"/>
            <a:pathLst>
              <a:path w="2350135" h="4377055">
                <a:moveTo>
                  <a:pt x="2350008" y="0"/>
                </a:moveTo>
                <a:lnTo>
                  <a:pt x="254431" y="0"/>
                </a:lnTo>
                <a:lnTo>
                  <a:pt x="208698" y="4099"/>
                </a:lnTo>
                <a:lnTo>
                  <a:pt x="165654" y="15918"/>
                </a:lnTo>
                <a:lnTo>
                  <a:pt x="126017" y="34736"/>
                </a:lnTo>
                <a:lnTo>
                  <a:pt x="90507" y="59836"/>
                </a:lnTo>
                <a:lnTo>
                  <a:pt x="59841" y="90498"/>
                </a:lnTo>
                <a:lnTo>
                  <a:pt x="34738" y="126002"/>
                </a:lnTo>
                <a:lnTo>
                  <a:pt x="15918" y="165630"/>
                </a:lnTo>
                <a:lnTo>
                  <a:pt x="4099" y="208663"/>
                </a:lnTo>
                <a:lnTo>
                  <a:pt x="0" y="254380"/>
                </a:lnTo>
                <a:lnTo>
                  <a:pt x="0" y="4376928"/>
                </a:lnTo>
                <a:lnTo>
                  <a:pt x="2095627" y="4376928"/>
                </a:lnTo>
                <a:lnTo>
                  <a:pt x="2141344" y="4372828"/>
                </a:lnTo>
                <a:lnTo>
                  <a:pt x="2184377" y="4361009"/>
                </a:lnTo>
                <a:lnTo>
                  <a:pt x="2224005" y="4342189"/>
                </a:lnTo>
                <a:lnTo>
                  <a:pt x="2259509" y="4317086"/>
                </a:lnTo>
                <a:lnTo>
                  <a:pt x="2290171" y="4286420"/>
                </a:lnTo>
                <a:lnTo>
                  <a:pt x="2315271" y="4250910"/>
                </a:lnTo>
                <a:lnTo>
                  <a:pt x="2334089" y="4211273"/>
                </a:lnTo>
                <a:lnTo>
                  <a:pt x="2345908" y="4168229"/>
                </a:lnTo>
                <a:lnTo>
                  <a:pt x="2350008" y="4122496"/>
                </a:lnTo>
                <a:lnTo>
                  <a:pt x="235000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5">
            <a:extLst>
              <a:ext uri="{FF2B5EF4-FFF2-40B4-BE49-F238E27FC236}">
                <a16:creationId xmlns:a16="http://schemas.microsoft.com/office/drawing/2014/main" id="{47E514F5-B30C-ECB7-F82B-FE302E88F7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2233" y="659921"/>
            <a:ext cx="556069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pt-BR" sz="3200" spc="-25" dirty="0">
                <a:solidFill>
                  <a:srgbClr val="434343"/>
                </a:solidFill>
                <a:latin typeface="Trebuchet MS"/>
              </a:rPr>
              <a:t>Tema do Projeto </a:t>
            </a:r>
            <a:r>
              <a:rPr lang="pt-BR" sz="3200" b="1" spc="-10" dirty="0" err="1">
                <a:solidFill>
                  <a:srgbClr val="434343"/>
                </a:solidFill>
                <a:latin typeface="Trebuchet MS"/>
              </a:rPr>
              <a:t>NetSecurity</a:t>
            </a:r>
            <a:endParaRPr sz="3200" b="1" spc="-10" dirty="0">
              <a:solidFill>
                <a:srgbClr val="434343"/>
              </a:solidFill>
              <a:latin typeface="Trebuchet MS"/>
            </a:endParaRPr>
          </a:p>
        </p:txBody>
      </p:sp>
      <p:sp>
        <p:nvSpPr>
          <p:cNvPr id="67" name="object 7">
            <a:extLst>
              <a:ext uri="{FF2B5EF4-FFF2-40B4-BE49-F238E27FC236}">
                <a16:creationId xmlns:a16="http://schemas.microsoft.com/office/drawing/2014/main" id="{FB8B5240-993C-469A-BF6E-169532ACCB5B}"/>
              </a:ext>
            </a:extLst>
          </p:cNvPr>
          <p:cNvSpPr txBox="1"/>
          <p:nvPr/>
        </p:nvSpPr>
        <p:spPr>
          <a:xfrm>
            <a:off x="2208220" y="3177266"/>
            <a:ext cx="187388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pt-BR"/>
            </a:defPPr>
            <a:lvl1pPr marL="12700" marR="5080">
              <a:lnSpc>
                <a:spcPct val="100000"/>
              </a:lnSpc>
              <a:spcBef>
                <a:spcPts val="100"/>
              </a:spcBef>
              <a:defRPr sz="1200" spc="10">
                <a:solidFill>
                  <a:srgbClr val="434343"/>
                </a:solidFill>
                <a:latin typeface="Trebuchet MS"/>
                <a:cs typeface="Trebuchet MS"/>
              </a:defRPr>
            </a:lvl1pPr>
          </a:lstStyle>
          <a:p>
            <a:r>
              <a:rPr lang="pt-BR" dirty="0" err="1"/>
              <a:t>PMEs</a:t>
            </a:r>
            <a:r>
              <a:rPr lang="pt-BR" dirty="0"/>
              <a:t> são alvos frequentes de </a:t>
            </a:r>
            <a:r>
              <a:rPr lang="pt-BR" dirty="0" err="1"/>
              <a:t>phishing</a:t>
            </a:r>
            <a:r>
              <a:rPr lang="pt-BR" dirty="0"/>
              <a:t> por falta de ferramentas robustas e acessíveis.</a:t>
            </a:r>
          </a:p>
        </p:txBody>
      </p:sp>
      <p:sp>
        <p:nvSpPr>
          <p:cNvPr id="68" name="object 8">
            <a:extLst>
              <a:ext uri="{FF2B5EF4-FFF2-40B4-BE49-F238E27FC236}">
                <a16:creationId xmlns:a16="http://schemas.microsoft.com/office/drawing/2014/main" id="{282B8ED2-8806-739D-77E1-3C0F813825F9}"/>
              </a:ext>
            </a:extLst>
          </p:cNvPr>
          <p:cNvSpPr txBox="1"/>
          <p:nvPr/>
        </p:nvSpPr>
        <p:spPr>
          <a:xfrm>
            <a:off x="2208220" y="4071404"/>
            <a:ext cx="164846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pt-BR"/>
            </a:defPPr>
            <a:lvl1pPr marL="12700">
              <a:lnSpc>
                <a:spcPct val="100000"/>
              </a:lnSpc>
              <a:spcBef>
                <a:spcPts val="100"/>
              </a:spcBef>
              <a:defRPr sz="1200">
                <a:solidFill>
                  <a:srgbClr val="434343"/>
                </a:solidFill>
                <a:latin typeface="Trebuchet MS"/>
                <a:cs typeface="Trebuchet MS"/>
              </a:defRPr>
            </a:lvl1pPr>
          </a:lstStyle>
          <a:p>
            <a:r>
              <a:rPr lang="pt-BR" dirty="0"/>
              <a:t>O roubo de credenciais é a principal porta de entrada para prejuízos financeiros e vazamento de dados.</a:t>
            </a:r>
            <a:endParaRPr dirty="0"/>
          </a:p>
        </p:txBody>
      </p:sp>
      <p:sp>
        <p:nvSpPr>
          <p:cNvPr id="70" name="object 10">
            <a:extLst>
              <a:ext uri="{FF2B5EF4-FFF2-40B4-BE49-F238E27FC236}">
                <a16:creationId xmlns:a16="http://schemas.microsoft.com/office/drawing/2014/main" id="{933C52C8-8E44-503E-080D-D014DC9F16CC}"/>
              </a:ext>
            </a:extLst>
          </p:cNvPr>
          <p:cNvSpPr txBox="1"/>
          <p:nvPr/>
        </p:nvSpPr>
        <p:spPr>
          <a:xfrm>
            <a:off x="5251597" y="3177266"/>
            <a:ext cx="1906287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pt-BR" sz="1200" spc="10" dirty="0">
                <a:solidFill>
                  <a:srgbClr val="434343"/>
                </a:solidFill>
                <a:latin typeface="Trebuchet MS"/>
                <a:cs typeface="Trebuchet MS"/>
              </a:rPr>
              <a:t>Soluções como o </a:t>
            </a:r>
            <a:r>
              <a:rPr lang="pt-BR" sz="1200" spc="10" dirty="0" err="1">
                <a:solidFill>
                  <a:srgbClr val="434343"/>
                </a:solidFill>
                <a:latin typeface="Trebuchet MS"/>
                <a:cs typeface="Trebuchet MS"/>
              </a:rPr>
              <a:t>Keycloak</a:t>
            </a:r>
            <a:r>
              <a:rPr lang="pt-BR" sz="1200" spc="10" dirty="0">
                <a:solidFill>
                  <a:srgbClr val="434343"/>
                </a:solidFill>
                <a:latin typeface="Trebuchet MS"/>
                <a:cs typeface="Trebuchet MS"/>
              </a:rPr>
              <a:t> padrão são estáticas: validam a senha, mas ignoram a identidade do portado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71" name="object 11">
            <a:extLst>
              <a:ext uri="{FF2B5EF4-FFF2-40B4-BE49-F238E27FC236}">
                <a16:creationId xmlns:a16="http://schemas.microsoft.com/office/drawing/2014/main" id="{AFEBD95F-E974-2626-4237-11ED2DA8D85A}"/>
              </a:ext>
            </a:extLst>
          </p:cNvPr>
          <p:cNvSpPr txBox="1"/>
          <p:nvPr/>
        </p:nvSpPr>
        <p:spPr>
          <a:xfrm>
            <a:off x="5251597" y="4252319"/>
            <a:ext cx="175768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pt-BR" sz="1200" dirty="0">
                <a:solidFill>
                  <a:srgbClr val="434343"/>
                </a:solidFill>
                <a:latin typeface="Trebuchet MS"/>
                <a:cs typeface="Trebuchet MS"/>
              </a:rPr>
              <a:t>Falta de ferramentas que unam gestão de usuários e biometria comportamental para o porte de </a:t>
            </a:r>
            <a:r>
              <a:rPr lang="pt-BR" sz="1200" dirty="0" err="1">
                <a:solidFill>
                  <a:srgbClr val="434343"/>
                </a:solidFill>
                <a:latin typeface="Trebuchet MS"/>
                <a:cs typeface="Trebuchet MS"/>
              </a:rPr>
              <a:t>PMEs</a:t>
            </a:r>
            <a:endParaRPr lang="pt-BR" sz="1200" dirty="0">
              <a:latin typeface="Trebuchet MS"/>
              <a:cs typeface="Trebuchet MS"/>
            </a:endParaRPr>
          </a:p>
        </p:txBody>
      </p:sp>
      <p:sp>
        <p:nvSpPr>
          <p:cNvPr id="72" name="object 12">
            <a:extLst>
              <a:ext uri="{FF2B5EF4-FFF2-40B4-BE49-F238E27FC236}">
                <a16:creationId xmlns:a16="http://schemas.microsoft.com/office/drawing/2014/main" id="{2E1B661B-2721-1B76-4E46-948DD6D4E325}"/>
              </a:ext>
            </a:extLst>
          </p:cNvPr>
          <p:cNvSpPr txBox="1"/>
          <p:nvPr/>
        </p:nvSpPr>
        <p:spPr>
          <a:xfrm>
            <a:off x="8272801" y="3195299"/>
            <a:ext cx="17570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pt-BR" sz="1200" dirty="0">
                <a:solidFill>
                  <a:srgbClr val="434343"/>
                </a:solidFill>
                <a:latin typeface="Trebuchet MS"/>
                <a:cs typeface="Trebuchet MS"/>
              </a:rPr>
              <a:t>IA que valida o acesso via </a:t>
            </a:r>
            <a:r>
              <a:rPr lang="pt-BR" sz="1200" dirty="0" err="1">
                <a:solidFill>
                  <a:srgbClr val="434343"/>
                </a:solidFill>
                <a:latin typeface="Trebuchet MS"/>
                <a:cs typeface="Trebuchet MS"/>
              </a:rPr>
              <a:t>Keystroke</a:t>
            </a:r>
            <a:r>
              <a:rPr lang="pt-BR" sz="1200" dirty="0">
                <a:solidFill>
                  <a:srgbClr val="434343"/>
                </a:solidFill>
                <a:latin typeface="Trebuchet MS"/>
                <a:cs typeface="Trebuchet MS"/>
              </a:rPr>
              <a:t> Dynamics (ritmo de digitação) e contexto (IP/Horário).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73" name="object 13">
            <a:extLst>
              <a:ext uri="{FF2B5EF4-FFF2-40B4-BE49-F238E27FC236}">
                <a16:creationId xmlns:a16="http://schemas.microsoft.com/office/drawing/2014/main" id="{886E6FA3-E6A7-CE19-0F10-176F75A9217D}"/>
              </a:ext>
            </a:extLst>
          </p:cNvPr>
          <p:cNvSpPr txBox="1"/>
          <p:nvPr/>
        </p:nvSpPr>
        <p:spPr>
          <a:xfrm>
            <a:off x="8272801" y="4079474"/>
            <a:ext cx="186182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200" dirty="0">
                <a:solidFill>
                  <a:srgbClr val="434343"/>
                </a:solidFill>
                <a:latin typeface="Trebuchet MS"/>
                <a:cs typeface="Trebuchet MS"/>
              </a:rPr>
              <a:t>MFA Inteligente: Autenticação invisível que só exige o segundo fator em caso de comportamento suspeito.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74" name="object 14">
            <a:extLst>
              <a:ext uri="{FF2B5EF4-FFF2-40B4-BE49-F238E27FC236}">
                <a16:creationId xmlns:a16="http://schemas.microsoft.com/office/drawing/2014/main" id="{F9C6827D-DC50-C356-3EEF-9EA2ADD97F0B}"/>
              </a:ext>
            </a:extLst>
          </p:cNvPr>
          <p:cNvSpPr/>
          <p:nvPr/>
        </p:nvSpPr>
        <p:spPr>
          <a:xfrm>
            <a:off x="7989717" y="1927967"/>
            <a:ext cx="2350135" cy="4377055"/>
          </a:xfrm>
          <a:custGeom>
            <a:avLst/>
            <a:gdLst/>
            <a:ahLst/>
            <a:cxnLst/>
            <a:rect l="l" t="t" r="r" b="b"/>
            <a:pathLst>
              <a:path w="2350134" h="4377055">
                <a:moveTo>
                  <a:pt x="254381" y="0"/>
                </a:moveTo>
                <a:lnTo>
                  <a:pt x="2350008" y="0"/>
                </a:lnTo>
                <a:lnTo>
                  <a:pt x="2350008" y="4122496"/>
                </a:lnTo>
                <a:lnTo>
                  <a:pt x="2345908" y="4168229"/>
                </a:lnTo>
                <a:lnTo>
                  <a:pt x="2334089" y="4211273"/>
                </a:lnTo>
                <a:lnTo>
                  <a:pt x="2315271" y="4250910"/>
                </a:lnTo>
                <a:lnTo>
                  <a:pt x="2290171" y="4286420"/>
                </a:lnTo>
                <a:lnTo>
                  <a:pt x="2259509" y="4317086"/>
                </a:lnTo>
                <a:lnTo>
                  <a:pt x="2224005" y="4342189"/>
                </a:lnTo>
                <a:lnTo>
                  <a:pt x="2184377" y="4361009"/>
                </a:lnTo>
                <a:lnTo>
                  <a:pt x="2141344" y="4372828"/>
                </a:lnTo>
                <a:lnTo>
                  <a:pt x="2095627" y="4376928"/>
                </a:lnTo>
                <a:lnTo>
                  <a:pt x="0" y="4376928"/>
                </a:lnTo>
                <a:lnTo>
                  <a:pt x="0" y="254380"/>
                </a:lnTo>
                <a:lnTo>
                  <a:pt x="4099" y="208663"/>
                </a:lnTo>
                <a:lnTo>
                  <a:pt x="15918" y="165630"/>
                </a:lnTo>
                <a:lnTo>
                  <a:pt x="34736" y="126002"/>
                </a:lnTo>
                <a:lnTo>
                  <a:pt x="59836" y="90498"/>
                </a:lnTo>
                <a:lnTo>
                  <a:pt x="90498" y="59836"/>
                </a:lnTo>
                <a:lnTo>
                  <a:pt x="126002" y="34736"/>
                </a:lnTo>
                <a:lnTo>
                  <a:pt x="165630" y="15918"/>
                </a:lnTo>
                <a:lnTo>
                  <a:pt x="208663" y="4099"/>
                </a:lnTo>
                <a:lnTo>
                  <a:pt x="254381" y="0"/>
                </a:lnTo>
                <a:close/>
              </a:path>
            </a:pathLst>
          </a:custGeom>
          <a:ln w="19050">
            <a:solidFill>
              <a:srgbClr val="0000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15">
            <a:extLst>
              <a:ext uri="{FF2B5EF4-FFF2-40B4-BE49-F238E27FC236}">
                <a16:creationId xmlns:a16="http://schemas.microsoft.com/office/drawing/2014/main" id="{83F34C0C-B8F2-8C78-2BFA-D81D9BF96BCF}"/>
              </a:ext>
            </a:extLst>
          </p:cNvPr>
          <p:cNvSpPr/>
          <p:nvPr/>
        </p:nvSpPr>
        <p:spPr>
          <a:xfrm>
            <a:off x="4946289" y="1927967"/>
            <a:ext cx="2350135" cy="4377055"/>
          </a:xfrm>
          <a:custGeom>
            <a:avLst/>
            <a:gdLst/>
            <a:ahLst/>
            <a:cxnLst/>
            <a:rect l="l" t="t" r="r" b="b"/>
            <a:pathLst>
              <a:path w="2350135" h="4377055">
                <a:moveTo>
                  <a:pt x="254381" y="0"/>
                </a:moveTo>
                <a:lnTo>
                  <a:pt x="2350008" y="0"/>
                </a:lnTo>
                <a:lnTo>
                  <a:pt x="2350008" y="4122496"/>
                </a:lnTo>
                <a:lnTo>
                  <a:pt x="2345908" y="4168229"/>
                </a:lnTo>
                <a:lnTo>
                  <a:pt x="2334089" y="4211273"/>
                </a:lnTo>
                <a:lnTo>
                  <a:pt x="2315271" y="4250910"/>
                </a:lnTo>
                <a:lnTo>
                  <a:pt x="2290171" y="4286420"/>
                </a:lnTo>
                <a:lnTo>
                  <a:pt x="2259509" y="4317086"/>
                </a:lnTo>
                <a:lnTo>
                  <a:pt x="2224005" y="4342189"/>
                </a:lnTo>
                <a:lnTo>
                  <a:pt x="2184377" y="4361009"/>
                </a:lnTo>
                <a:lnTo>
                  <a:pt x="2141344" y="4372828"/>
                </a:lnTo>
                <a:lnTo>
                  <a:pt x="2095627" y="4376928"/>
                </a:lnTo>
                <a:lnTo>
                  <a:pt x="0" y="4376928"/>
                </a:lnTo>
                <a:lnTo>
                  <a:pt x="0" y="254380"/>
                </a:lnTo>
                <a:lnTo>
                  <a:pt x="4099" y="208663"/>
                </a:lnTo>
                <a:lnTo>
                  <a:pt x="15918" y="165630"/>
                </a:lnTo>
                <a:lnTo>
                  <a:pt x="34736" y="126002"/>
                </a:lnTo>
                <a:lnTo>
                  <a:pt x="59836" y="90498"/>
                </a:lnTo>
                <a:lnTo>
                  <a:pt x="90498" y="59836"/>
                </a:lnTo>
                <a:lnTo>
                  <a:pt x="126002" y="34736"/>
                </a:lnTo>
                <a:lnTo>
                  <a:pt x="165630" y="15918"/>
                </a:lnTo>
                <a:lnTo>
                  <a:pt x="208663" y="4099"/>
                </a:lnTo>
                <a:lnTo>
                  <a:pt x="254381" y="0"/>
                </a:lnTo>
                <a:close/>
              </a:path>
            </a:pathLst>
          </a:custGeom>
          <a:ln w="19050">
            <a:solidFill>
              <a:srgbClr val="0000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16">
            <a:extLst>
              <a:ext uri="{FF2B5EF4-FFF2-40B4-BE49-F238E27FC236}">
                <a16:creationId xmlns:a16="http://schemas.microsoft.com/office/drawing/2014/main" id="{F7E65ECE-DC6C-A97D-E933-B56A7C5E6C0A}"/>
              </a:ext>
            </a:extLst>
          </p:cNvPr>
          <p:cNvSpPr/>
          <p:nvPr/>
        </p:nvSpPr>
        <p:spPr>
          <a:xfrm>
            <a:off x="1904386" y="1927967"/>
            <a:ext cx="2350135" cy="4377055"/>
          </a:xfrm>
          <a:custGeom>
            <a:avLst/>
            <a:gdLst/>
            <a:ahLst/>
            <a:cxnLst/>
            <a:rect l="l" t="t" r="r" b="b"/>
            <a:pathLst>
              <a:path w="2350135" h="4377055">
                <a:moveTo>
                  <a:pt x="254431" y="0"/>
                </a:moveTo>
                <a:lnTo>
                  <a:pt x="2350008" y="0"/>
                </a:lnTo>
                <a:lnTo>
                  <a:pt x="2350008" y="4122496"/>
                </a:lnTo>
                <a:lnTo>
                  <a:pt x="2345908" y="4168229"/>
                </a:lnTo>
                <a:lnTo>
                  <a:pt x="2334089" y="4211273"/>
                </a:lnTo>
                <a:lnTo>
                  <a:pt x="2315271" y="4250910"/>
                </a:lnTo>
                <a:lnTo>
                  <a:pt x="2290171" y="4286420"/>
                </a:lnTo>
                <a:lnTo>
                  <a:pt x="2259509" y="4317086"/>
                </a:lnTo>
                <a:lnTo>
                  <a:pt x="2224005" y="4342189"/>
                </a:lnTo>
                <a:lnTo>
                  <a:pt x="2184377" y="4361009"/>
                </a:lnTo>
                <a:lnTo>
                  <a:pt x="2141344" y="4372828"/>
                </a:lnTo>
                <a:lnTo>
                  <a:pt x="2095627" y="4376928"/>
                </a:lnTo>
                <a:lnTo>
                  <a:pt x="0" y="4376928"/>
                </a:lnTo>
                <a:lnTo>
                  <a:pt x="0" y="254380"/>
                </a:lnTo>
                <a:lnTo>
                  <a:pt x="4099" y="208663"/>
                </a:lnTo>
                <a:lnTo>
                  <a:pt x="15918" y="165630"/>
                </a:lnTo>
                <a:lnTo>
                  <a:pt x="34738" y="126002"/>
                </a:lnTo>
                <a:lnTo>
                  <a:pt x="59841" y="90498"/>
                </a:lnTo>
                <a:lnTo>
                  <a:pt x="90507" y="59836"/>
                </a:lnTo>
                <a:lnTo>
                  <a:pt x="126017" y="34736"/>
                </a:lnTo>
                <a:lnTo>
                  <a:pt x="165654" y="15918"/>
                </a:lnTo>
                <a:lnTo>
                  <a:pt x="208698" y="4099"/>
                </a:lnTo>
                <a:lnTo>
                  <a:pt x="254431" y="0"/>
                </a:lnTo>
                <a:close/>
              </a:path>
            </a:pathLst>
          </a:custGeom>
          <a:ln w="19049">
            <a:solidFill>
              <a:srgbClr val="0000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17">
            <a:extLst>
              <a:ext uri="{FF2B5EF4-FFF2-40B4-BE49-F238E27FC236}">
                <a16:creationId xmlns:a16="http://schemas.microsoft.com/office/drawing/2014/main" id="{EC5B87F2-8FF7-F929-1264-88837E925C56}"/>
              </a:ext>
            </a:extLst>
          </p:cNvPr>
          <p:cNvSpPr txBox="1"/>
          <p:nvPr/>
        </p:nvSpPr>
        <p:spPr>
          <a:xfrm>
            <a:off x="2208220" y="2267437"/>
            <a:ext cx="155321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pt-BR" sz="1800" b="1" spc="85" dirty="0">
                <a:solidFill>
                  <a:srgbClr val="0000BE"/>
                </a:solidFill>
                <a:latin typeface="Trebuchet MS"/>
                <a:cs typeface="Trebuchet MS"/>
              </a:rPr>
              <a:t>Contexto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78" name="object 18">
            <a:extLst>
              <a:ext uri="{FF2B5EF4-FFF2-40B4-BE49-F238E27FC236}">
                <a16:creationId xmlns:a16="http://schemas.microsoft.com/office/drawing/2014/main" id="{D1EC68F9-9836-13E7-0075-7435081215A5}"/>
              </a:ext>
            </a:extLst>
          </p:cNvPr>
          <p:cNvSpPr txBox="1"/>
          <p:nvPr/>
        </p:nvSpPr>
        <p:spPr>
          <a:xfrm>
            <a:off x="5278558" y="2256905"/>
            <a:ext cx="14052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b="1" spc="110" dirty="0">
                <a:solidFill>
                  <a:srgbClr val="0000BE"/>
                </a:solidFill>
                <a:latin typeface="Trebuchet MS"/>
                <a:cs typeface="Trebuchet MS"/>
              </a:rPr>
              <a:t>Lacuna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79" name="object 19">
            <a:extLst>
              <a:ext uri="{FF2B5EF4-FFF2-40B4-BE49-F238E27FC236}">
                <a16:creationId xmlns:a16="http://schemas.microsoft.com/office/drawing/2014/main" id="{36BDEAC8-B9FC-575C-5B10-230205A34800}"/>
              </a:ext>
            </a:extLst>
          </p:cNvPr>
          <p:cNvSpPr txBox="1"/>
          <p:nvPr/>
        </p:nvSpPr>
        <p:spPr>
          <a:xfrm>
            <a:off x="8272801" y="2267437"/>
            <a:ext cx="113474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pt-BR" sz="1800" b="1" dirty="0">
                <a:solidFill>
                  <a:srgbClr val="0000BE"/>
                </a:solidFill>
                <a:latin typeface="Trebuchet MS"/>
                <a:cs typeface="Trebuchet MS"/>
              </a:rPr>
              <a:t>Solução</a:t>
            </a:r>
            <a:endParaRPr sz="1800" dirty="0">
              <a:latin typeface="Trebuchet MS"/>
              <a:cs typeface="Trebuchet MS"/>
            </a:endParaRPr>
          </a:p>
        </p:txBody>
      </p:sp>
      <p:pic>
        <p:nvPicPr>
          <p:cNvPr id="81" name="Imagem 80">
            <a:extLst>
              <a:ext uri="{FF2B5EF4-FFF2-40B4-BE49-F238E27FC236}">
                <a16:creationId xmlns:a16="http://schemas.microsoft.com/office/drawing/2014/main" id="{CE11B32E-5C54-F710-A57A-65D5FC630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781" y="340239"/>
            <a:ext cx="803319" cy="6393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00DCC089-E7B6-D5B2-D0D2-3FA0C0A34FB1}"/>
              </a:ext>
            </a:extLst>
          </p:cNvPr>
          <p:cNvGrpSpPr/>
          <p:nvPr/>
        </p:nvGrpSpPr>
        <p:grpSpPr>
          <a:xfrm>
            <a:off x="1875692" y="2402204"/>
            <a:ext cx="8813165" cy="3992879"/>
            <a:chOff x="558165" y="2402204"/>
            <a:chExt cx="8813165" cy="3992879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2276D00-F122-B072-9B77-E778B0A13EE6}"/>
                </a:ext>
              </a:extLst>
            </p:cNvPr>
            <p:cNvSpPr/>
            <p:nvPr/>
          </p:nvSpPr>
          <p:spPr>
            <a:xfrm>
              <a:off x="707136" y="2563367"/>
              <a:ext cx="8663940" cy="3831590"/>
            </a:xfrm>
            <a:custGeom>
              <a:avLst/>
              <a:gdLst/>
              <a:ahLst/>
              <a:cxnLst/>
              <a:rect l="l" t="t" r="r" b="b"/>
              <a:pathLst>
                <a:path w="8663940" h="3831590">
                  <a:moveTo>
                    <a:pt x="8663940" y="225806"/>
                  </a:moveTo>
                  <a:lnTo>
                    <a:pt x="8659343" y="180301"/>
                  </a:lnTo>
                  <a:lnTo>
                    <a:pt x="8646185" y="137922"/>
                  </a:lnTo>
                  <a:lnTo>
                    <a:pt x="8625370" y="99555"/>
                  </a:lnTo>
                  <a:lnTo>
                    <a:pt x="8597798" y="66141"/>
                  </a:lnTo>
                  <a:lnTo>
                    <a:pt x="8564385" y="38569"/>
                  </a:lnTo>
                  <a:lnTo>
                    <a:pt x="8526018" y="17754"/>
                  </a:lnTo>
                  <a:lnTo>
                    <a:pt x="8483638" y="4597"/>
                  </a:lnTo>
                  <a:lnTo>
                    <a:pt x="8438134" y="0"/>
                  </a:lnTo>
                  <a:lnTo>
                    <a:pt x="6071870" y="0"/>
                  </a:lnTo>
                  <a:lnTo>
                    <a:pt x="6026353" y="4597"/>
                  </a:lnTo>
                  <a:lnTo>
                    <a:pt x="5983973" y="17754"/>
                  </a:lnTo>
                  <a:lnTo>
                    <a:pt x="5945606" y="38569"/>
                  </a:lnTo>
                  <a:lnTo>
                    <a:pt x="5912193" y="66141"/>
                  </a:lnTo>
                  <a:lnTo>
                    <a:pt x="5884621" y="99555"/>
                  </a:lnTo>
                  <a:lnTo>
                    <a:pt x="5863806" y="137922"/>
                  </a:lnTo>
                  <a:lnTo>
                    <a:pt x="5850648" y="180301"/>
                  </a:lnTo>
                  <a:lnTo>
                    <a:pt x="5846064" y="225806"/>
                  </a:lnTo>
                  <a:lnTo>
                    <a:pt x="5846064" y="1690116"/>
                  </a:lnTo>
                  <a:lnTo>
                    <a:pt x="2843784" y="1690116"/>
                  </a:lnTo>
                  <a:lnTo>
                    <a:pt x="2843784" y="225806"/>
                  </a:lnTo>
                  <a:lnTo>
                    <a:pt x="2839186" y="180301"/>
                  </a:lnTo>
                  <a:lnTo>
                    <a:pt x="2826029" y="137922"/>
                  </a:lnTo>
                  <a:lnTo>
                    <a:pt x="2805214" y="99555"/>
                  </a:lnTo>
                  <a:lnTo>
                    <a:pt x="2777642" y="66141"/>
                  </a:lnTo>
                  <a:lnTo>
                    <a:pt x="2744228" y="38569"/>
                  </a:lnTo>
                  <a:lnTo>
                    <a:pt x="2705862" y="17754"/>
                  </a:lnTo>
                  <a:lnTo>
                    <a:pt x="2663482" y="4597"/>
                  </a:lnTo>
                  <a:lnTo>
                    <a:pt x="2617978" y="0"/>
                  </a:lnTo>
                  <a:lnTo>
                    <a:pt x="225818" y="0"/>
                  </a:lnTo>
                  <a:lnTo>
                    <a:pt x="180301" y="4597"/>
                  </a:lnTo>
                  <a:lnTo>
                    <a:pt x="137909" y="17754"/>
                  </a:lnTo>
                  <a:lnTo>
                    <a:pt x="99555" y="38569"/>
                  </a:lnTo>
                  <a:lnTo>
                    <a:pt x="66141" y="66141"/>
                  </a:lnTo>
                  <a:lnTo>
                    <a:pt x="38557" y="99555"/>
                  </a:lnTo>
                  <a:lnTo>
                    <a:pt x="17741" y="137922"/>
                  </a:lnTo>
                  <a:lnTo>
                    <a:pt x="4584" y="180301"/>
                  </a:lnTo>
                  <a:lnTo>
                    <a:pt x="0" y="225806"/>
                  </a:lnTo>
                  <a:lnTo>
                    <a:pt x="0" y="1815084"/>
                  </a:lnTo>
                  <a:lnTo>
                    <a:pt x="2843784" y="1815084"/>
                  </a:lnTo>
                  <a:lnTo>
                    <a:pt x="2843784" y="3539210"/>
                  </a:lnTo>
                  <a:lnTo>
                    <a:pt x="2847606" y="3586607"/>
                  </a:lnTo>
                  <a:lnTo>
                    <a:pt x="2858668" y="3631552"/>
                  </a:lnTo>
                  <a:lnTo>
                    <a:pt x="2876385" y="3673462"/>
                  </a:lnTo>
                  <a:lnTo>
                    <a:pt x="2900146" y="3711740"/>
                  </a:lnTo>
                  <a:lnTo>
                    <a:pt x="2929344" y="3745776"/>
                  </a:lnTo>
                  <a:lnTo>
                    <a:pt x="2963380" y="3774986"/>
                  </a:lnTo>
                  <a:lnTo>
                    <a:pt x="3001657" y="3798735"/>
                  </a:lnTo>
                  <a:lnTo>
                    <a:pt x="3043567" y="3816451"/>
                  </a:lnTo>
                  <a:lnTo>
                    <a:pt x="3088500" y="3827513"/>
                  </a:lnTo>
                  <a:lnTo>
                    <a:pt x="3135884" y="3831336"/>
                  </a:lnTo>
                  <a:lnTo>
                    <a:pt x="5553964" y="3831336"/>
                  </a:lnTo>
                  <a:lnTo>
                    <a:pt x="5601335" y="3827513"/>
                  </a:lnTo>
                  <a:lnTo>
                    <a:pt x="5646267" y="3816451"/>
                  </a:lnTo>
                  <a:lnTo>
                    <a:pt x="5688177" y="3798735"/>
                  </a:lnTo>
                  <a:lnTo>
                    <a:pt x="5726455" y="3774986"/>
                  </a:lnTo>
                  <a:lnTo>
                    <a:pt x="5760491" y="3745788"/>
                  </a:lnTo>
                  <a:lnTo>
                    <a:pt x="5789688" y="3711740"/>
                  </a:lnTo>
                  <a:lnTo>
                    <a:pt x="5813450" y="3673462"/>
                  </a:lnTo>
                  <a:lnTo>
                    <a:pt x="5831167" y="3631552"/>
                  </a:lnTo>
                  <a:lnTo>
                    <a:pt x="5842228" y="3586607"/>
                  </a:lnTo>
                  <a:lnTo>
                    <a:pt x="5846064" y="3539210"/>
                  </a:lnTo>
                  <a:lnTo>
                    <a:pt x="5846064" y="1815084"/>
                  </a:lnTo>
                  <a:lnTo>
                    <a:pt x="8663940" y="1815084"/>
                  </a:lnTo>
                  <a:lnTo>
                    <a:pt x="8663940" y="22580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algn="ctr"/>
              <a:endParaRPr dirty="0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2B554D5-66E4-E683-DD77-4518EDD99079}"/>
                </a:ext>
              </a:extLst>
            </p:cNvPr>
            <p:cNvSpPr/>
            <p:nvPr/>
          </p:nvSpPr>
          <p:spPr>
            <a:xfrm>
              <a:off x="567690" y="2411729"/>
              <a:ext cx="8639810" cy="3831590"/>
            </a:xfrm>
            <a:custGeom>
              <a:avLst/>
              <a:gdLst/>
              <a:ahLst/>
              <a:cxnLst/>
              <a:rect l="l" t="t" r="r" b="b"/>
              <a:pathLst>
                <a:path w="8639810" h="3831590">
                  <a:moveTo>
                    <a:pt x="2817876" y="1813560"/>
                  </a:moveTo>
                  <a:lnTo>
                    <a:pt x="5820156" y="1813560"/>
                  </a:lnTo>
                  <a:lnTo>
                    <a:pt x="5820156" y="3592271"/>
                  </a:lnTo>
                  <a:lnTo>
                    <a:pt x="5815298" y="3640450"/>
                  </a:lnTo>
                  <a:lnTo>
                    <a:pt x="5801365" y="3685324"/>
                  </a:lnTo>
                  <a:lnTo>
                    <a:pt x="5779322" y="3725933"/>
                  </a:lnTo>
                  <a:lnTo>
                    <a:pt x="5750131" y="3761314"/>
                  </a:lnTo>
                  <a:lnTo>
                    <a:pt x="5714754" y="3790506"/>
                  </a:lnTo>
                  <a:lnTo>
                    <a:pt x="5674155" y="3812548"/>
                  </a:lnTo>
                  <a:lnTo>
                    <a:pt x="5629297" y="3826478"/>
                  </a:lnTo>
                  <a:lnTo>
                    <a:pt x="5581142" y="3831336"/>
                  </a:lnTo>
                  <a:lnTo>
                    <a:pt x="3056890" y="3831336"/>
                  </a:lnTo>
                  <a:lnTo>
                    <a:pt x="3008734" y="3826478"/>
                  </a:lnTo>
                  <a:lnTo>
                    <a:pt x="2963876" y="3812548"/>
                  </a:lnTo>
                  <a:lnTo>
                    <a:pt x="2923277" y="3790506"/>
                  </a:lnTo>
                  <a:lnTo>
                    <a:pt x="2887900" y="3761314"/>
                  </a:lnTo>
                  <a:lnTo>
                    <a:pt x="2858709" y="3725933"/>
                  </a:lnTo>
                  <a:lnTo>
                    <a:pt x="2836666" y="3685324"/>
                  </a:lnTo>
                  <a:lnTo>
                    <a:pt x="2822733" y="3640450"/>
                  </a:lnTo>
                  <a:lnTo>
                    <a:pt x="2817876" y="3592271"/>
                  </a:lnTo>
                  <a:lnTo>
                    <a:pt x="2817876" y="1813560"/>
                  </a:lnTo>
                  <a:close/>
                </a:path>
                <a:path w="8639810" h="3831590">
                  <a:moveTo>
                    <a:pt x="6045962" y="0"/>
                  </a:moveTo>
                  <a:lnTo>
                    <a:pt x="8413750" y="0"/>
                  </a:lnTo>
                  <a:lnTo>
                    <a:pt x="8459259" y="4587"/>
                  </a:lnTo>
                  <a:lnTo>
                    <a:pt x="8501645" y="17744"/>
                  </a:lnTo>
                  <a:lnTo>
                    <a:pt x="8540002" y="38562"/>
                  </a:lnTo>
                  <a:lnTo>
                    <a:pt x="8573420" y="66135"/>
                  </a:lnTo>
                  <a:lnTo>
                    <a:pt x="8600993" y="99553"/>
                  </a:lnTo>
                  <a:lnTo>
                    <a:pt x="8621811" y="137910"/>
                  </a:lnTo>
                  <a:lnTo>
                    <a:pt x="8634968" y="180296"/>
                  </a:lnTo>
                  <a:lnTo>
                    <a:pt x="8639556" y="225806"/>
                  </a:lnTo>
                  <a:lnTo>
                    <a:pt x="8639556" y="1815084"/>
                  </a:lnTo>
                  <a:lnTo>
                    <a:pt x="5820156" y="1815084"/>
                  </a:lnTo>
                  <a:lnTo>
                    <a:pt x="5820156" y="225806"/>
                  </a:lnTo>
                  <a:lnTo>
                    <a:pt x="5824743" y="180296"/>
                  </a:lnTo>
                  <a:lnTo>
                    <a:pt x="5837900" y="137910"/>
                  </a:lnTo>
                  <a:lnTo>
                    <a:pt x="5858718" y="99553"/>
                  </a:lnTo>
                  <a:lnTo>
                    <a:pt x="5886291" y="66135"/>
                  </a:lnTo>
                  <a:lnTo>
                    <a:pt x="5919709" y="38562"/>
                  </a:lnTo>
                  <a:lnTo>
                    <a:pt x="5958066" y="17744"/>
                  </a:lnTo>
                  <a:lnTo>
                    <a:pt x="6000452" y="4587"/>
                  </a:lnTo>
                  <a:lnTo>
                    <a:pt x="6045962" y="0"/>
                  </a:lnTo>
                  <a:close/>
                </a:path>
                <a:path w="8639810" h="3831590">
                  <a:moveTo>
                    <a:pt x="225818" y="0"/>
                  </a:moveTo>
                  <a:lnTo>
                    <a:pt x="2593593" y="0"/>
                  </a:lnTo>
                  <a:lnTo>
                    <a:pt x="2639103" y="4587"/>
                  </a:lnTo>
                  <a:lnTo>
                    <a:pt x="2681489" y="17744"/>
                  </a:lnTo>
                  <a:lnTo>
                    <a:pt x="2719846" y="38562"/>
                  </a:lnTo>
                  <a:lnTo>
                    <a:pt x="2753264" y="66135"/>
                  </a:lnTo>
                  <a:lnTo>
                    <a:pt x="2780837" y="99553"/>
                  </a:lnTo>
                  <a:lnTo>
                    <a:pt x="2801655" y="137910"/>
                  </a:lnTo>
                  <a:lnTo>
                    <a:pt x="2814812" y="180296"/>
                  </a:lnTo>
                  <a:lnTo>
                    <a:pt x="2819400" y="225806"/>
                  </a:lnTo>
                  <a:lnTo>
                    <a:pt x="2819400" y="1815084"/>
                  </a:lnTo>
                  <a:lnTo>
                    <a:pt x="0" y="1815084"/>
                  </a:lnTo>
                  <a:lnTo>
                    <a:pt x="0" y="225806"/>
                  </a:lnTo>
                  <a:lnTo>
                    <a:pt x="4587" y="180296"/>
                  </a:lnTo>
                  <a:lnTo>
                    <a:pt x="17746" y="137910"/>
                  </a:lnTo>
                  <a:lnTo>
                    <a:pt x="38566" y="99553"/>
                  </a:lnTo>
                  <a:lnTo>
                    <a:pt x="66141" y="66135"/>
                  </a:lnTo>
                  <a:lnTo>
                    <a:pt x="99562" y="38562"/>
                  </a:lnTo>
                  <a:lnTo>
                    <a:pt x="137920" y="17744"/>
                  </a:lnTo>
                  <a:lnTo>
                    <a:pt x="180308" y="4587"/>
                  </a:lnTo>
                  <a:lnTo>
                    <a:pt x="225818" y="0"/>
                  </a:lnTo>
                  <a:close/>
                </a:path>
              </a:pathLst>
            </a:custGeom>
            <a:ln w="19050">
              <a:solidFill>
                <a:srgbClr val="0000BE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F27CBEEE-ADF1-C56D-E407-E182D15464BA}"/>
              </a:ext>
            </a:extLst>
          </p:cNvPr>
          <p:cNvSpPr txBox="1"/>
          <p:nvPr/>
        </p:nvSpPr>
        <p:spPr>
          <a:xfrm>
            <a:off x="2201548" y="2710052"/>
            <a:ext cx="219202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95"/>
              </a:spcBef>
            </a:pPr>
            <a:r>
              <a:rPr lang="pt-BR" sz="1600" spc="-10" dirty="0" err="1">
                <a:solidFill>
                  <a:srgbClr val="434343"/>
                </a:solidFill>
                <a:latin typeface="Trebuchet MS"/>
                <a:cs typeface="Trebuchet MS"/>
              </a:rPr>
              <a:t>Product</a:t>
            </a:r>
            <a:r>
              <a:rPr lang="pt-BR" sz="1600" spc="-10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lang="pt-BR" sz="1600" spc="-10" dirty="0" err="1">
                <a:solidFill>
                  <a:srgbClr val="434343"/>
                </a:solidFill>
                <a:latin typeface="Trebuchet MS"/>
                <a:cs typeface="Trebuchet MS"/>
              </a:rPr>
              <a:t>Owner</a:t>
            </a:r>
            <a:r>
              <a:rPr lang="pt-BR" sz="1600" spc="-10" dirty="0">
                <a:solidFill>
                  <a:srgbClr val="434343"/>
                </a:solidFill>
                <a:latin typeface="Trebuchet MS"/>
                <a:cs typeface="Trebuchet MS"/>
              </a:rPr>
              <a:t> (PO)</a:t>
            </a:r>
            <a:endParaRPr lang="pt-BR" sz="1600" dirty="0">
              <a:latin typeface="Trebuchet MS"/>
              <a:cs typeface="Trebuchet MS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C5702A5-3E55-E4B9-E4FD-F4F37A73DA0E}"/>
              </a:ext>
            </a:extLst>
          </p:cNvPr>
          <p:cNvSpPr txBox="1"/>
          <p:nvPr/>
        </p:nvSpPr>
        <p:spPr>
          <a:xfrm>
            <a:off x="5538314" y="4425575"/>
            <a:ext cx="1409177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pt-BR" sz="1600" spc="55" dirty="0">
                <a:solidFill>
                  <a:srgbClr val="434343"/>
                </a:solidFill>
                <a:latin typeface="Trebuchet MS"/>
                <a:cs typeface="Trebuchet MS"/>
              </a:rPr>
              <a:t>Scrum Master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F15AEC35-F1E4-9155-A5FE-F2C47B25B99B}"/>
              </a:ext>
            </a:extLst>
          </p:cNvPr>
          <p:cNvSpPr txBox="1"/>
          <p:nvPr/>
        </p:nvSpPr>
        <p:spPr>
          <a:xfrm>
            <a:off x="8077229" y="2763138"/>
            <a:ext cx="207454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lang="pt-BR" sz="1600" spc="40" dirty="0">
                <a:solidFill>
                  <a:srgbClr val="434343"/>
                </a:solidFill>
                <a:latin typeface="Trebuchet MS"/>
                <a:cs typeface="Trebuchet MS"/>
              </a:rPr>
              <a:t>DEV Team</a:t>
            </a:r>
            <a:endParaRPr sz="1600" dirty="0">
              <a:latin typeface="Trebuchet MS"/>
              <a:cs typeface="Trebuchet MS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2F2C2DC6-E3C0-FE46-EBE7-BE608ACFF16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145" y="4427862"/>
            <a:ext cx="1592826" cy="1592826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D13661A4-08DC-2D7F-628F-F0233F25B95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03746" y="4673558"/>
            <a:ext cx="1549708" cy="1095376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B8CAA280-B152-813F-D8BD-F3E81505C86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00533" y="2792083"/>
            <a:ext cx="1409177" cy="1091331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65EA97D3-4B3E-F609-CC46-FC725E5313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781" y="340239"/>
            <a:ext cx="803319" cy="639364"/>
          </a:xfrm>
          <a:prstGeom prst="rect">
            <a:avLst/>
          </a:prstGeom>
        </p:spPr>
      </p:pic>
      <p:sp>
        <p:nvSpPr>
          <p:cNvPr id="27" name="object 5">
            <a:extLst>
              <a:ext uri="{FF2B5EF4-FFF2-40B4-BE49-F238E27FC236}">
                <a16:creationId xmlns:a16="http://schemas.microsoft.com/office/drawing/2014/main" id="{81C0406D-8371-19B4-BE03-DF7026394F46}"/>
              </a:ext>
            </a:extLst>
          </p:cNvPr>
          <p:cNvSpPr txBox="1">
            <a:spLocks/>
          </p:cNvSpPr>
          <p:nvPr/>
        </p:nvSpPr>
        <p:spPr>
          <a:xfrm>
            <a:off x="732233" y="659921"/>
            <a:ext cx="556069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pt-BR" sz="3200" spc="-25" dirty="0">
                <a:solidFill>
                  <a:srgbClr val="434343"/>
                </a:solidFill>
                <a:latin typeface="Trebuchet MS"/>
              </a:rPr>
              <a:t>Definição da Equipe e Papéis</a:t>
            </a:r>
            <a:endParaRPr lang="pt-BR" sz="3200" b="1" spc="-10" dirty="0">
              <a:solidFill>
                <a:srgbClr val="434343"/>
              </a:solidFill>
              <a:latin typeface="Trebuchet MS"/>
            </a:endParaRPr>
          </a:p>
        </p:txBody>
      </p:sp>
      <p:sp>
        <p:nvSpPr>
          <p:cNvPr id="28" name="object 9">
            <a:extLst>
              <a:ext uri="{FF2B5EF4-FFF2-40B4-BE49-F238E27FC236}">
                <a16:creationId xmlns:a16="http://schemas.microsoft.com/office/drawing/2014/main" id="{738E511F-233F-6491-AAE4-8073FDDF0315}"/>
              </a:ext>
            </a:extLst>
          </p:cNvPr>
          <p:cNvSpPr txBox="1"/>
          <p:nvPr/>
        </p:nvSpPr>
        <p:spPr>
          <a:xfrm>
            <a:off x="2130110" y="3106710"/>
            <a:ext cx="2334895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</a:pPr>
            <a:r>
              <a:rPr lang="pt-BR" sz="1050" b="1" i="0" dirty="0">
                <a:effectLst/>
              </a:rPr>
              <a:t>FABRICIO MARTINS MORALES</a:t>
            </a:r>
            <a:endParaRPr lang="pt-BR" sz="1050" b="1" dirty="0">
              <a:latin typeface="Trebuchet MS"/>
              <a:cs typeface="Trebuchet MS"/>
            </a:endParaRPr>
          </a:p>
        </p:txBody>
      </p:sp>
      <p:sp>
        <p:nvSpPr>
          <p:cNvPr id="29" name="object 9">
            <a:extLst>
              <a:ext uri="{FF2B5EF4-FFF2-40B4-BE49-F238E27FC236}">
                <a16:creationId xmlns:a16="http://schemas.microsoft.com/office/drawing/2014/main" id="{7011BDAF-7172-E46A-D7AF-6F19D4CD3B15}"/>
              </a:ext>
            </a:extLst>
          </p:cNvPr>
          <p:cNvSpPr txBox="1"/>
          <p:nvPr/>
        </p:nvSpPr>
        <p:spPr>
          <a:xfrm>
            <a:off x="2201548" y="3429000"/>
            <a:ext cx="2334895" cy="3366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</a:pPr>
            <a:r>
              <a:rPr lang="pt-BR" sz="1050" spc="-10" dirty="0">
                <a:solidFill>
                  <a:srgbClr val="434343"/>
                </a:solidFill>
                <a:latin typeface="Trebuchet MS"/>
                <a:cs typeface="Trebuchet MS"/>
              </a:rPr>
              <a:t>Garantir que o sistema atenda às necessidades reais das </a:t>
            </a:r>
            <a:r>
              <a:rPr lang="pt-BR" sz="1050" spc="-10" dirty="0" err="1">
                <a:solidFill>
                  <a:srgbClr val="434343"/>
                </a:solidFill>
                <a:latin typeface="Trebuchet MS"/>
                <a:cs typeface="Trebuchet MS"/>
              </a:rPr>
              <a:t>PMEs</a:t>
            </a:r>
            <a:endParaRPr sz="1050" dirty="0">
              <a:latin typeface="Trebuchet MS"/>
              <a:cs typeface="Trebuchet MS"/>
            </a:endParaRPr>
          </a:p>
        </p:txBody>
      </p:sp>
      <p:sp>
        <p:nvSpPr>
          <p:cNvPr id="30" name="object 9">
            <a:extLst>
              <a:ext uri="{FF2B5EF4-FFF2-40B4-BE49-F238E27FC236}">
                <a16:creationId xmlns:a16="http://schemas.microsoft.com/office/drawing/2014/main" id="{D74D0F16-A3F4-190F-EC3E-BFB499EA105F}"/>
              </a:ext>
            </a:extLst>
          </p:cNvPr>
          <p:cNvSpPr txBox="1"/>
          <p:nvPr/>
        </p:nvSpPr>
        <p:spPr>
          <a:xfrm>
            <a:off x="5125480" y="4774064"/>
            <a:ext cx="2334895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</a:pPr>
            <a:r>
              <a:rPr lang="pt-BR" sz="1050" b="1" i="0" dirty="0">
                <a:effectLst/>
              </a:rPr>
              <a:t>ALEX ALVES DA SILVA</a:t>
            </a:r>
            <a:endParaRPr lang="pt-BR" sz="1050" b="1" dirty="0">
              <a:latin typeface="Trebuchet MS"/>
              <a:cs typeface="Trebuchet MS"/>
            </a:endParaRPr>
          </a:p>
        </p:txBody>
      </p:sp>
      <p:sp>
        <p:nvSpPr>
          <p:cNvPr id="31" name="object 9">
            <a:extLst>
              <a:ext uri="{FF2B5EF4-FFF2-40B4-BE49-F238E27FC236}">
                <a16:creationId xmlns:a16="http://schemas.microsoft.com/office/drawing/2014/main" id="{2645A49D-C343-4F51-38BC-066ACF6DE80B}"/>
              </a:ext>
            </a:extLst>
          </p:cNvPr>
          <p:cNvSpPr txBox="1"/>
          <p:nvPr/>
        </p:nvSpPr>
        <p:spPr>
          <a:xfrm>
            <a:off x="5075454" y="5162767"/>
            <a:ext cx="2334895" cy="3366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</a:pPr>
            <a:r>
              <a:rPr lang="pt-BR" sz="1050" spc="-10" dirty="0">
                <a:solidFill>
                  <a:srgbClr val="434343"/>
                </a:solidFill>
                <a:latin typeface="Trebuchet MS"/>
                <a:cs typeface="Trebuchet MS"/>
              </a:rPr>
              <a:t>Garantir o cumprimento dos prazos e a qualidade técnica das Sprints.</a:t>
            </a:r>
            <a:endParaRPr sz="1050" dirty="0">
              <a:latin typeface="Trebuchet MS"/>
              <a:cs typeface="Trebuchet MS"/>
            </a:endParaRPr>
          </a:p>
        </p:txBody>
      </p:sp>
      <p:sp>
        <p:nvSpPr>
          <p:cNvPr id="32" name="object 9">
            <a:extLst>
              <a:ext uri="{FF2B5EF4-FFF2-40B4-BE49-F238E27FC236}">
                <a16:creationId xmlns:a16="http://schemas.microsoft.com/office/drawing/2014/main" id="{3298F86F-F21A-E77C-9864-C65829C3A67F}"/>
              </a:ext>
            </a:extLst>
          </p:cNvPr>
          <p:cNvSpPr txBox="1"/>
          <p:nvPr/>
        </p:nvSpPr>
        <p:spPr>
          <a:xfrm>
            <a:off x="8024140" y="3106710"/>
            <a:ext cx="2334895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</a:pPr>
            <a:r>
              <a:rPr lang="pt-BR" sz="1050" b="1" i="0" dirty="0">
                <a:effectLst/>
              </a:rPr>
              <a:t>GUILHERME FERNANDES SILVA</a:t>
            </a:r>
            <a:endParaRPr lang="pt-BR" sz="1050" b="1" dirty="0">
              <a:latin typeface="Trebuchet MS"/>
              <a:cs typeface="Trebuchet MS"/>
            </a:endParaRPr>
          </a:p>
        </p:txBody>
      </p:sp>
      <p:sp>
        <p:nvSpPr>
          <p:cNvPr id="33" name="object 9">
            <a:extLst>
              <a:ext uri="{FF2B5EF4-FFF2-40B4-BE49-F238E27FC236}">
                <a16:creationId xmlns:a16="http://schemas.microsoft.com/office/drawing/2014/main" id="{09199729-EC0A-AF43-8AF5-E01F4C3EEBDA}"/>
              </a:ext>
            </a:extLst>
          </p:cNvPr>
          <p:cNvSpPr txBox="1"/>
          <p:nvPr/>
        </p:nvSpPr>
        <p:spPr>
          <a:xfrm>
            <a:off x="8024140" y="3488470"/>
            <a:ext cx="2334895" cy="3366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spcBef>
                <a:spcPts val="105"/>
              </a:spcBef>
            </a:pPr>
            <a:r>
              <a:rPr lang="pt-BR" sz="1050" spc="-10" dirty="0">
                <a:solidFill>
                  <a:srgbClr val="434343"/>
                </a:solidFill>
                <a:latin typeface="Trebuchet MS"/>
              </a:rPr>
              <a:t>Responsável pelo desenvolvimento técnico do projeto</a:t>
            </a:r>
            <a:endParaRPr sz="1050" spc="-10" dirty="0">
              <a:solidFill>
                <a:srgbClr val="434343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781853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7456A-0E49-3F75-F2AA-5FD57F60D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object 2">
            <a:extLst>
              <a:ext uri="{FF2B5EF4-FFF2-40B4-BE49-F238E27FC236}">
                <a16:creationId xmlns:a16="http://schemas.microsoft.com/office/drawing/2014/main" id="{2260A4AE-7486-382E-6EBB-FACC5F2DCA87}"/>
              </a:ext>
            </a:extLst>
          </p:cNvPr>
          <p:cNvSpPr/>
          <p:nvPr/>
        </p:nvSpPr>
        <p:spPr>
          <a:xfrm>
            <a:off x="8124592" y="2062840"/>
            <a:ext cx="2350135" cy="4377055"/>
          </a:xfrm>
          <a:custGeom>
            <a:avLst/>
            <a:gdLst/>
            <a:ahLst/>
            <a:cxnLst/>
            <a:rect l="l" t="t" r="r" b="b"/>
            <a:pathLst>
              <a:path w="2350134" h="4377055">
                <a:moveTo>
                  <a:pt x="2350008" y="0"/>
                </a:moveTo>
                <a:lnTo>
                  <a:pt x="254380" y="0"/>
                </a:lnTo>
                <a:lnTo>
                  <a:pt x="208663" y="4099"/>
                </a:lnTo>
                <a:lnTo>
                  <a:pt x="165630" y="15918"/>
                </a:lnTo>
                <a:lnTo>
                  <a:pt x="126002" y="34736"/>
                </a:lnTo>
                <a:lnTo>
                  <a:pt x="90498" y="59836"/>
                </a:lnTo>
                <a:lnTo>
                  <a:pt x="59836" y="90498"/>
                </a:lnTo>
                <a:lnTo>
                  <a:pt x="34736" y="126002"/>
                </a:lnTo>
                <a:lnTo>
                  <a:pt x="15918" y="165630"/>
                </a:lnTo>
                <a:lnTo>
                  <a:pt x="4099" y="208663"/>
                </a:lnTo>
                <a:lnTo>
                  <a:pt x="0" y="254380"/>
                </a:lnTo>
                <a:lnTo>
                  <a:pt x="0" y="4376928"/>
                </a:lnTo>
                <a:lnTo>
                  <a:pt x="2095627" y="4376928"/>
                </a:lnTo>
                <a:lnTo>
                  <a:pt x="2141344" y="4372828"/>
                </a:lnTo>
                <a:lnTo>
                  <a:pt x="2184377" y="4361009"/>
                </a:lnTo>
                <a:lnTo>
                  <a:pt x="2224005" y="4342189"/>
                </a:lnTo>
                <a:lnTo>
                  <a:pt x="2259509" y="4317086"/>
                </a:lnTo>
                <a:lnTo>
                  <a:pt x="2290171" y="4286420"/>
                </a:lnTo>
                <a:lnTo>
                  <a:pt x="2315271" y="4250910"/>
                </a:lnTo>
                <a:lnTo>
                  <a:pt x="2334089" y="4211273"/>
                </a:lnTo>
                <a:lnTo>
                  <a:pt x="2345908" y="4168229"/>
                </a:lnTo>
                <a:lnTo>
                  <a:pt x="2350008" y="4122496"/>
                </a:lnTo>
                <a:lnTo>
                  <a:pt x="235000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3">
            <a:extLst>
              <a:ext uri="{FF2B5EF4-FFF2-40B4-BE49-F238E27FC236}">
                <a16:creationId xmlns:a16="http://schemas.microsoft.com/office/drawing/2014/main" id="{7AA1794E-D68E-745E-C6CB-03A09BE9D98F}"/>
              </a:ext>
            </a:extLst>
          </p:cNvPr>
          <p:cNvSpPr/>
          <p:nvPr/>
        </p:nvSpPr>
        <p:spPr>
          <a:xfrm>
            <a:off x="5081164" y="2062840"/>
            <a:ext cx="2350135" cy="4377055"/>
          </a:xfrm>
          <a:custGeom>
            <a:avLst/>
            <a:gdLst/>
            <a:ahLst/>
            <a:cxnLst/>
            <a:rect l="l" t="t" r="r" b="b"/>
            <a:pathLst>
              <a:path w="2350135" h="4377055">
                <a:moveTo>
                  <a:pt x="2350008" y="0"/>
                </a:moveTo>
                <a:lnTo>
                  <a:pt x="254381" y="0"/>
                </a:lnTo>
                <a:lnTo>
                  <a:pt x="208663" y="4099"/>
                </a:lnTo>
                <a:lnTo>
                  <a:pt x="165630" y="15918"/>
                </a:lnTo>
                <a:lnTo>
                  <a:pt x="126002" y="34736"/>
                </a:lnTo>
                <a:lnTo>
                  <a:pt x="90498" y="59836"/>
                </a:lnTo>
                <a:lnTo>
                  <a:pt x="59836" y="90498"/>
                </a:lnTo>
                <a:lnTo>
                  <a:pt x="34736" y="126002"/>
                </a:lnTo>
                <a:lnTo>
                  <a:pt x="15918" y="165630"/>
                </a:lnTo>
                <a:lnTo>
                  <a:pt x="4099" y="208663"/>
                </a:lnTo>
                <a:lnTo>
                  <a:pt x="0" y="254380"/>
                </a:lnTo>
                <a:lnTo>
                  <a:pt x="0" y="4376928"/>
                </a:lnTo>
                <a:lnTo>
                  <a:pt x="2095627" y="4376928"/>
                </a:lnTo>
                <a:lnTo>
                  <a:pt x="2141344" y="4372828"/>
                </a:lnTo>
                <a:lnTo>
                  <a:pt x="2184377" y="4361009"/>
                </a:lnTo>
                <a:lnTo>
                  <a:pt x="2224005" y="4342189"/>
                </a:lnTo>
                <a:lnTo>
                  <a:pt x="2259509" y="4317086"/>
                </a:lnTo>
                <a:lnTo>
                  <a:pt x="2290171" y="4286420"/>
                </a:lnTo>
                <a:lnTo>
                  <a:pt x="2315271" y="4250910"/>
                </a:lnTo>
                <a:lnTo>
                  <a:pt x="2334089" y="4211273"/>
                </a:lnTo>
                <a:lnTo>
                  <a:pt x="2345908" y="4168229"/>
                </a:lnTo>
                <a:lnTo>
                  <a:pt x="2350008" y="4122496"/>
                </a:lnTo>
                <a:lnTo>
                  <a:pt x="235000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4">
            <a:extLst>
              <a:ext uri="{FF2B5EF4-FFF2-40B4-BE49-F238E27FC236}">
                <a16:creationId xmlns:a16="http://schemas.microsoft.com/office/drawing/2014/main" id="{705FB733-1325-5A3F-E736-2A9EB3FF9A06}"/>
              </a:ext>
            </a:extLst>
          </p:cNvPr>
          <p:cNvSpPr/>
          <p:nvPr/>
        </p:nvSpPr>
        <p:spPr>
          <a:xfrm>
            <a:off x="2037736" y="2062840"/>
            <a:ext cx="2350135" cy="4377055"/>
          </a:xfrm>
          <a:custGeom>
            <a:avLst/>
            <a:gdLst/>
            <a:ahLst/>
            <a:cxnLst/>
            <a:rect l="l" t="t" r="r" b="b"/>
            <a:pathLst>
              <a:path w="2350135" h="4377055">
                <a:moveTo>
                  <a:pt x="2350008" y="0"/>
                </a:moveTo>
                <a:lnTo>
                  <a:pt x="254431" y="0"/>
                </a:lnTo>
                <a:lnTo>
                  <a:pt x="208698" y="4099"/>
                </a:lnTo>
                <a:lnTo>
                  <a:pt x="165654" y="15918"/>
                </a:lnTo>
                <a:lnTo>
                  <a:pt x="126017" y="34736"/>
                </a:lnTo>
                <a:lnTo>
                  <a:pt x="90507" y="59836"/>
                </a:lnTo>
                <a:lnTo>
                  <a:pt x="59841" y="90498"/>
                </a:lnTo>
                <a:lnTo>
                  <a:pt x="34738" y="126002"/>
                </a:lnTo>
                <a:lnTo>
                  <a:pt x="15918" y="165630"/>
                </a:lnTo>
                <a:lnTo>
                  <a:pt x="4099" y="208663"/>
                </a:lnTo>
                <a:lnTo>
                  <a:pt x="0" y="254380"/>
                </a:lnTo>
                <a:lnTo>
                  <a:pt x="0" y="4376928"/>
                </a:lnTo>
                <a:lnTo>
                  <a:pt x="2095627" y="4376928"/>
                </a:lnTo>
                <a:lnTo>
                  <a:pt x="2141344" y="4372828"/>
                </a:lnTo>
                <a:lnTo>
                  <a:pt x="2184377" y="4361009"/>
                </a:lnTo>
                <a:lnTo>
                  <a:pt x="2224005" y="4342189"/>
                </a:lnTo>
                <a:lnTo>
                  <a:pt x="2259509" y="4317086"/>
                </a:lnTo>
                <a:lnTo>
                  <a:pt x="2290171" y="4286420"/>
                </a:lnTo>
                <a:lnTo>
                  <a:pt x="2315271" y="4250910"/>
                </a:lnTo>
                <a:lnTo>
                  <a:pt x="2334089" y="4211273"/>
                </a:lnTo>
                <a:lnTo>
                  <a:pt x="2345908" y="4168229"/>
                </a:lnTo>
                <a:lnTo>
                  <a:pt x="2350008" y="4122496"/>
                </a:lnTo>
                <a:lnTo>
                  <a:pt x="235000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5">
            <a:extLst>
              <a:ext uri="{FF2B5EF4-FFF2-40B4-BE49-F238E27FC236}">
                <a16:creationId xmlns:a16="http://schemas.microsoft.com/office/drawing/2014/main" id="{EA1451A0-1F30-0844-F643-67A0AA63A2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2233" y="659921"/>
            <a:ext cx="556069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pt-BR" sz="3200" spc="-25" dirty="0">
                <a:solidFill>
                  <a:srgbClr val="434343"/>
                </a:solidFill>
                <a:latin typeface="Trebuchet MS"/>
              </a:rPr>
              <a:t>Definição Tecnológica</a:t>
            </a:r>
            <a:endParaRPr lang="pt-BR" sz="3200" b="1" spc="-10" dirty="0">
              <a:solidFill>
                <a:srgbClr val="434343"/>
              </a:solidFill>
              <a:latin typeface="Trebuchet MS"/>
            </a:endParaRPr>
          </a:p>
        </p:txBody>
      </p:sp>
      <p:sp>
        <p:nvSpPr>
          <p:cNvPr id="67" name="object 7">
            <a:extLst>
              <a:ext uri="{FF2B5EF4-FFF2-40B4-BE49-F238E27FC236}">
                <a16:creationId xmlns:a16="http://schemas.microsoft.com/office/drawing/2014/main" id="{2F8F50C9-4A87-563E-9CDE-5FDC9A17DC49}"/>
              </a:ext>
            </a:extLst>
          </p:cNvPr>
          <p:cNvSpPr txBox="1"/>
          <p:nvPr/>
        </p:nvSpPr>
        <p:spPr>
          <a:xfrm>
            <a:off x="2126795" y="4550062"/>
            <a:ext cx="1873885" cy="9618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pt-BR"/>
            </a:defPPr>
            <a:lvl1pPr marL="12700" marR="5080">
              <a:lnSpc>
                <a:spcPct val="100000"/>
              </a:lnSpc>
              <a:spcBef>
                <a:spcPts val="100"/>
              </a:spcBef>
              <a:defRPr sz="1200" spc="10">
                <a:solidFill>
                  <a:srgbClr val="434343"/>
                </a:solidFill>
                <a:latin typeface="Trebuchet MS"/>
                <a:cs typeface="Trebuchet MS"/>
              </a:defRPr>
            </a:lvl1pPr>
          </a:lstStyle>
          <a:p>
            <a:pPr marL="184150" indent="-171450">
              <a:buFont typeface="Arial" panose="020B0604020202020204" pitchFamily="34" charset="0"/>
              <a:buChar char="•"/>
            </a:pPr>
            <a:r>
              <a:rPr lang="pt-BR" dirty="0"/>
              <a:t>Interface moderna para alertas em tempo real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pt-BR" dirty="0"/>
              <a:t>Foco na fluidez do </a:t>
            </a:r>
            <a:r>
              <a:rPr lang="pt-BR" b="1" dirty="0"/>
              <a:t>Dashboard de Riscos</a:t>
            </a:r>
            <a:r>
              <a:rPr lang="pt-BR" dirty="0"/>
              <a:t>.</a:t>
            </a:r>
          </a:p>
        </p:txBody>
      </p:sp>
      <p:sp>
        <p:nvSpPr>
          <p:cNvPr id="74" name="object 14">
            <a:extLst>
              <a:ext uri="{FF2B5EF4-FFF2-40B4-BE49-F238E27FC236}">
                <a16:creationId xmlns:a16="http://schemas.microsoft.com/office/drawing/2014/main" id="{96705EC6-3FAD-2C5A-2422-F0EB23EBD7EC}"/>
              </a:ext>
            </a:extLst>
          </p:cNvPr>
          <p:cNvSpPr/>
          <p:nvPr/>
        </p:nvSpPr>
        <p:spPr>
          <a:xfrm>
            <a:off x="7989717" y="1927967"/>
            <a:ext cx="2350135" cy="4377055"/>
          </a:xfrm>
          <a:custGeom>
            <a:avLst/>
            <a:gdLst/>
            <a:ahLst/>
            <a:cxnLst/>
            <a:rect l="l" t="t" r="r" b="b"/>
            <a:pathLst>
              <a:path w="2350134" h="4377055">
                <a:moveTo>
                  <a:pt x="254381" y="0"/>
                </a:moveTo>
                <a:lnTo>
                  <a:pt x="2350008" y="0"/>
                </a:lnTo>
                <a:lnTo>
                  <a:pt x="2350008" y="4122496"/>
                </a:lnTo>
                <a:lnTo>
                  <a:pt x="2345908" y="4168229"/>
                </a:lnTo>
                <a:lnTo>
                  <a:pt x="2334089" y="4211273"/>
                </a:lnTo>
                <a:lnTo>
                  <a:pt x="2315271" y="4250910"/>
                </a:lnTo>
                <a:lnTo>
                  <a:pt x="2290171" y="4286420"/>
                </a:lnTo>
                <a:lnTo>
                  <a:pt x="2259509" y="4317086"/>
                </a:lnTo>
                <a:lnTo>
                  <a:pt x="2224005" y="4342189"/>
                </a:lnTo>
                <a:lnTo>
                  <a:pt x="2184377" y="4361009"/>
                </a:lnTo>
                <a:lnTo>
                  <a:pt x="2141344" y="4372828"/>
                </a:lnTo>
                <a:lnTo>
                  <a:pt x="2095627" y="4376928"/>
                </a:lnTo>
                <a:lnTo>
                  <a:pt x="0" y="4376928"/>
                </a:lnTo>
                <a:lnTo>
                  <a:pt x="0" y="254380"/>
                </a:lnTo>
                <a:lnTo>
                  <a:pt x="4099" y="208663"/>
                </a:lnTo>
                <a:lnTo>
                  <a:pt x="15918" y="165630"/>
                </a:lnTo>
                <a:lnTo>
                  <a:pt x="34736" y="126002"/>
                </a:lnTo>
                <a:lnTo>
                  <a:pt x="59836" y="90498"/>
                </a:lnTo>
                <a:lnTo>
                  <a:pt x="90498" y="59836"/>
                </a:lnTo>
                <a:lnTo>
                  <a:pt x="126002" y="34736"/>
                </a:lnTo>
                <a:lnTo>
                  <a:pt x="165630" y="15918"/>
                </a:lnTo>
                <a:lnTo>
                  <a:pt x="208663" y="4099"/>
                </a:lnTo>
                <a:lnTo>
                  <a:pt x="254381" y="0"/>
                </a:lnTo>
                <a:close/>
              </a:path>
            </a:pathLst>
          </a:custGeom>
          <a:ln w="19050">
            <a:solidFill>
              <a:srgbClr val="0000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15">
            <a:extLst>
              <a:ext uri="{FF2B5EF4-FFF2-40B4-BE49-F238E27FC236}">
                <a16:creationId xmlns:a16="http://schemas.microsoft.com/office/drawing/2014/main" id="{67496AB4-E7A8-A05A-ABAC-76B802D72174}"/>
              </a:ext>
            </a:extLst>
          </p:cNvPr>
          <p:cNvSpPr/>
          <p:nvPr/>
        </p:nvSpPr>
        <p:spPr>
          <a:xfrm>
            <a:off x="4946289" y="1927967"/>
            <a:ext cx="2350135" cy="4377055"/>
          </a:xfrm>
          <a:custGeom>
            <a:avLst/>
            <a:gdLst/>
            <a:ahLst/>
            <a:cxnLst/>
            <a:rect l="l" t="t" r="r" b="b"/>
            <a:pathLst>
              <a:path w="2350135" h="4377055">
                <a:moveTo>
                  <a:pt x="254381" y="0"/>
                </a:moveTo>
                <a:lnTo>
                  <a:pt x="2350008" y="0"/>
                </a:lnTo>
                <a:lnTo>
                  <a:pt x="2350008" y="4122496"/>
                </a:lnTo>
                <a:lnTo>
                  <a:pt x="2345908" y="4168229"/>
                </a:lnTo>
                <a:lnTo>
                  <a:pt x="2334089" y="4211273"/>
                </a:lnTo>
                <a:lnTo>
                  <a:pt x="2315271" y="4250910"/>
                </a:lnTo>
                <a:lnTo>
                  <a:pt x="2290171" y="4286420"/>
                </a:lnTo>
                <a:lnTo>
                  <a:pt x="2259509" y="4317086"/>
                </a:lnTo>
                <a:lnTo>
                  <a:pt x="2224005" y="4342189"/>
                </a:lnTo>
                <a:lnTo>
                  <a:pt x="2184377" y="4361009"/>
                </a:lnTo>
                <a:lnTo>
                  <a:pt x="2141344" y="4372828"/>
                </a:lnTo>
                <a:lnTo>
                  <a:pt x="2095627" y="4376928"/>
                </a:lnTo>
                <a:lnTo>
                  <a:pt x="0" y="4376928"/>
                </a:lnTo>
                <a:lnTo>
                  <a:pt x="0" y="254380"/>
                </a:lnTo>
                <a:lnTo>
                  <a:pt x="4099" y="208663"/>
                </a:lnTo>
                <a:lnTo>
                  <a:pt x="15918" y="165630"/>
                </a:lnTo>
                <a:lnTo>
                  <a:pt x="34736" y="126002"/>
                </a:lnTo>
                <a:lnTo>
                  <a:pt x="59836" y="90498"/>
                </a:lnTo>
                <a:lnTo>
                  <a:pt x="90498" y="59836"/>
                </a:lnTo>
                <a:lnTo>
                  <a:pt x="126002" y="34736"/>
                </a:lnTo>
                <a:lnTo>
                  <a:pt x="165630" y="15918"/>
                </a:lnTo>
                <a:lnTo>
                  <a:pt x="208663" y="4099"/>
                </a:lnTo>
                <a:lnTo>
                  <a:pt x="254381" y="0"/>
                </a:lnTo>
                <a:close/>
              </a:path>
            </a:pathLst>
          </a:custGeom>
          <a:ln w="19050">
            <a:solidFill>
              <a:srgbClr val="0000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16">
            <a:extLst>
              <a:ext uri="{FF2B5EF4-FFF2-40B4-BE49-F238E27FC236}">
                <a16:creationId xmlns:a16="http://schemas.microsoft.com/office/drawing/2014/main" id="{1810EDB4-6DB6-93F1-AAC9-5439BCAFEBB3}"/>
              </a:ext>
            </a:extLst>
          </p:cNvPr>
          <p:cNvSpPr/>
          <p:nvPr/>
        </p:nvSpPr>
        <p:spPr>
          <a:xfrm>
            <a:off x="1904386" y="1927967"/>
            <a:ext cx="2350135" cy="4377055"/>
          </a:xfrm>
          <a:custGeom>
            <a:avLst/>
            <a:gdLst/>
            <a:ahLst/>
            <a:cxnLst/>
            <a:rect l="l" t="t" r="r" b="b"/>
            <a:pathLst>
              <a:path w="2350135" h="4377055">
                <a:moveTo>
                  <a:pt x="254431" y="0"/>
                </a:moveTo>
                <a:lnTo>
                  <a:pt x="2350008" y="0"/>
                </a:lnTo>
                <a:lnTo>
                  <a:pt x="2350008" y="4122496"/>
                </a:lnTo>
                <a:lnTo>
                  <a:pt x="2345908" y="4168229"/>
                </a:lnTo>
                <a:lnTo>
                  <a:pt x="2334089" y="4211273"/>
                </a:lnTo>
                <a:lnTo>
                  <a:pt x="2315271" y="4250910"/>
                </a:lnTo>
                <a:lnTo>
                  <a:pt x="2290171" y="4286420"/>
                </a:lnTo>
                <a:lnTo>
                  <a:pt x="2259509" y="4317086"/>
                </a:lnTo>
                <a:lnTo>
                  <a:pt x="2224005" y="4342189"/>
                </a:lnTo>
                <a:lnTo>
                  <a:pt x="2184377" y="4361009"/>
                </a:lnTo>
                <a:lnTo>
                  <a:pt x="2141344" y="4372828"/>
                </a:lnTo>
                <a:lnTo>
                  <a:pt x="2095627" y="4376928"/>
                </a:lnTo>
                <a:lnTo>
                  <a:pt x="0" y="4376928"/>
                </a:lnTo>
                <a:lnTo>
                  <a:pt x="0" y="254380"/>
                </a:lnTo>
                <a:lnTo>
                  <a:pt x="4099" y="208663"/>
                </a:lnTo>
                <a:lnTo>
                  <a:pt x="15918" y="165630"/>
                </a:lnTo>
                <a:lnTo>
                  <a:pt x="34738" y="126002"/>
                </a:lnTo>
                <a:lnTo>
                  <a:pt x="59841" y="90498"/>
                </a:lnTo>
                <a:lnTo>
                  <a:pt x="90507" y="59836"/>
                </a:lnTo>
                <a:lnTo>
                  <a:pt x="126017" y="34736"/>
                </a:lnTo>
                <a:lnTo>
                  <a:pt x="165654" y="15918"/>
                </a:lnTo>
                <a:lnTo>
                  <a:pt x="208698" y="4099"/>
                </a:lnTo>
                <a:lnTo>
                  <a:pt x="254431" y="0"/>
                </a:lnTo>
                <a:close/>
              </a:path>
            </a:pathLst>
          </a:custGeom>
          <a:ln w="19049">
            <a:solidFill>
              <a:srgbClr val="0000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17">
            <a:extLst>
              <a:ext uri="{FF2B5EF4-FFF2-40B4-BE49-F238E27FC236}">
                <a16:creationId xmlns:a16="http://schemas.microsoft.com/office/drawing/2014/main" id="{958C8682-13ED-4EAC-4465-947AA0F37439}"/>
              </a:ext>
            </a:extLst>
          </p:cNvPr>
          <p:cNvSpPr txBox="1"/>
          <p:nvPr/>
        </p:nvSpPr>
        <p:spPr>
          <a:xfrm>
            <a:off x="2208220" y="2267437"/>
            <a:ext cx="155321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pt-BR" sz="1800" b="1" spc="85" dirty="0">
                <a:solidFill>
                  <a:srgbClr val="0000BE"/>
                </a:solidFill>
                <a:latin typeface="Trebuchet MS"/>
                <a:cs typeface="Trebuchet MS"/>
              </a:rPr>
              <a:t>Front-</a:t>
            </a:r>
            <a:r>
              <a:rPr lang="pt-BR" sz="1800" b="1" spc="85" dirty="0" err="1">
                <a:solidFill>
                  <a:srgbClr val="0000BE"/>
                </a:solidFill>
                <a:latin typeface="Trebuchet MS"/>
                <a:cs typeface="Trebuchet MS"/>
              </a:rPr>
              <a:t>end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78" name="object 18">
            <a:extLst>
              <a:ext uri="{FF2B5EF4-FFF2-40B4-BE49-F238E27FC236}">
                <a16:creationId xmlns:a16="http://schemas.microsoft.com/office/drawing/2014/main" id="{D2EAD9D4-8813-A54D-73D6-811C675211C1}"/>
              </a:ext>
            </a:extLst>
          </p:cNvPr>
          <p:cNvSpPr txBox="1"/>
          <p:nvPr/>
        </p:nvSpPr>
        <p:spPr>
          <a:xfrm>
            <a:off x="5278558" y="2256905"/>
            <a:ext cx="14052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b="1" spc="110" dirty="0">
                <a:solidFill>
                  <a:srgbClr val="0000BE"/>
                </a:solidFill>
                <a:latin typeface="Trebuchet MS"/>
                <a:cs typeface="Trebuchet MS"/>
              </a:rPr>
              <a:t>Back-</a:t>
            </a:r>
            <a:r>
              <a:rPr lang="pt-BR" sz="1800" b="1" spc="110" dirty="0" err="1">
                <a:solidFill>
                  <a:srgbClr val="0000BE"/>
                </a:solidFill>
                <a:latin typeface="Trebuchet MS"/>
                <a:cs typeface="Trebuchet MS"/>
              </a:rPr>
              <a:t>end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79" name="object 19">
            <a:extLst>
              <a:ext uri="{FF2B5EF4-FFF2-40B4-BE49-F238E27FC236}">
                <a16:creationId xmlns:a16="http://schemas.microsoft.com/office/drawing/2014/main" id="{A8C9DC70-1CDE-FD02-557A-885663CAFC25}"/>
              </a:ext>
            </a:extLst>
          </p:cNvPr>
          <p:cNvSpPr txBox="1"/>
          <p:nvPr/>
        </p:nvSpPr>
        <p:spPr>
          <a:xfrm>
            <a:off x="8272801" y="2267437"/>
            <a:ext cx="175704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pt-BR" sz="1800" b="1" dirty="0">
                <a:solidFill>
                  <a:srgbClr val="0000BE"/>
                </a:solidFill>
                <a:latin typeface="Trebuchet MS"/>
                <a:cs typeface="Trebuchet MS"/>
              </a:rPr>
              <a:t>Banco de dados</a:t>
            </a:r>
            <a:endParaRPr sz="1800" dirty="0">
              <a:latin typeface="Trebuchet MS"/>
              <a:cs typeface="Trebuchet MS"/>
            </a:endParaRPr>
          </a:p>
        </p:txBody>
      </p:sp>
      <p:pic>
        <p:nvPicPr>
          <p:cNvPr id="81" name="Imagem 80">
            <a:extLst>
              <a:ext uri="{FF2B5EF4-FFF2-40B4-BE49-F238E27FC236}">
                <a16:creationId xmlns:a16="http://schemas.microsoft.com/office/drawing/2014/main" id="{72B34FFD-2004-9981-A743-7CA33B631F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781" y="340239"/>
            <a:ext cx="803319" cy="639364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581D1038-8112-A640-E172-A66893397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6104" y="3311896"/>
            <a:ext cx="1055266" cy="938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>
            <a:extLst>
              <a:ext uri="{FF2B5EF4-FFF2-40B4-BE49-F238E27FC236}">
                <a16:creationId xmlns:a16="http://schemas.microsoft.com/office/drawing/2014/main" id="{7EBC330F-5D48-4939-FDB5-94933E397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3279" y="3389672"/>
            <a:ext cx="936154" cy="936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7" descr="Desvendando o Mundo do MySQL: Uma Jornada Rumo ao Domínio do Banco de Dados  -">
            <a:extLst>
              <a:ext uri="{FF2B5EF4-FFF2-40B4-BE49-F238E27FC236}">
                <a16:creationId xmlns:a16="http://schemas.microsoft.com/office/drawing/2014/main" id="{407667A5-996C-C531-AA98-C9054B0DA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0224" y="3306662"/>
            <a:ext cx="985672" cy="985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7">
            <a:extLst>
              <a:ext uri="{FF2B5EF4-FFF2-40B4-BE49-F238E27FC236}">
                <a16:creationId xmlns:a16="http://schemas.microsoft.com/office/drawing/2014/main" id="{5E45E70C-4012-F953-6DF4-5BA1B5F058B8}"/>
              </a:ext>
            </a:extLst>
          </p:cNvPr>
          <p:cNvSpPr txBox="1"/>
          <p:nvPr/>
        </p:nvSpPr>
        <p:spPr>
          <a:xfrm>
            <a:off x="5148007" y="4687927"/>
            <a:ext cx="2050097" cy="7771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pt-BR"/>
            </a:defPPr>
            <a:lvl1pPr marL="12700" marR="5080">
              <a:lnSpc>
                <a:spcPct val="100000"/>
              </a:lnSpc>
              <a:spcBef>
                <a:spcPts val="100"/>
              </a:spcBef>
              <a:defRPr sz="1200" spc="10">
                <a:solidFill>
                  <a:srgbClr val="434343"/>
                </a:solidFill>
                <a:latin typeface="Trebuchet MS"/>
                <a:cs typeface="Trebuchet MS"/>
              </a:defRPr>
            </a:lvl1pPr>
          </a:lstStyle>
          <a:p>
            <a:pPr marL="184150" indent="-171450">
              <a:buFont typeface="Arial" panose="020B0604020202020204" pitchFamily="34" charset="0"/>
              <a:buChar char="•"/>
            </a:pPr>
            <a:r>
              <a:rPr lang="pt-BR" dirty="0"/>
              <a:t>Robustez e vasta biblioteca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pt-BR" dirty="0"/>
              <a:t>Ideal para motores de IA</a:t>
            </a: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FA3C8334-0344-EC33-B887-3D60A24E536E}"/>
              </a:ext>
            </a:extLst>
          </p:cNvPr>
          <p:cNvSpPr txBox="1"/>
          <p:nvPr/>
        </p:nvSpPr>
        <p:spPr>
          <a:xfrm>
            <a:off x="8274228" y="4678728"/>
            <a:ext cx="1873885" cy="11464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pt-BR"/>
            </a:defPPr>
            <a:lvl1pPr marL="12700" marR="5080">
              <a:lnSpc>
                <a:spcPct val="100000"/>
              </a:lnSpc>
              <a:spcBef>
                <a:spcPts val="100"/>
              </a:spcBef>
              <a:defRPr sz="1200" spc="10">
                <a:solidFill>
                  <a:srgbClr val="434343"/>
                </a:solidFill>
                <a:latin typeface="Trebuchet MS"/>
                <a:cs typeface="Trebuchet MS"/>
              </a:defRPr>
            </a:lvl1pPr>
          </a:lstStyle>
          <a:p>
            <a:pPr marL="184150" indent="-1714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</a:rPr>
              <a:t>Armazenamento de dados e logs.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pt-BR" dirty="0"/>
              <a:t>Garantia de conformidade com a </a:t>
            </a:r>
            <a:r>
              <a:rPr lang="pt-BR" b="1" dirty="0"/>
              <a:t>LGPD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8532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AB9F4-AAD6-DD64-7022-C0D0C224F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>
            <a:extLst>
              <a:ext uri="{FF2B5EF4-FFF2-40B4-BE49-F238E27FC236}">
                <a16:creationId xmlns:a16="http://schemas.microsoft.com/office/drawing/2014/main" id="{63F16580-5AFE-F443-CDAC-7014BB71F3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781" y="340239"/>
            <a:ext cx="803319" cy="639364"/>
          </a:xfrm>
          <a:prstGeom prst="rect">
            <a:avLst/>
          </a:prstGeom>
        </p:spPr>
      </p:pic>
      <p:sp>
        <p:nvSpPr>
          <p:cNvPr id="27" name="object 5">
            <a:extLst>
              <a:ext uri="{FF2B5EF4-FFF2-40B4-BE49-F238E27FC236}">
                <a16:creationId xmlns:a16="http://schemas.microsoft.com/office/drawing/2014/main" id="{8B980543-6C22-B398-FA06-6A5E0A3AD35C}"/>
              </a:ext>
            </a:extLst>
          </p:cNvPr>
          <p:cNvSpPr txBox="1">
            <a:spLocks/>
          </p:cNvSpPr>
          <p:nvPr/>
        </p:nvSpPr>
        <p:spPr>
          <a:xfrm>
            <a:off x="732233" y="659921"/>
            <a:ext cx="556069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pt-BR" sz="3200" spc="-25" dirty="0" err="1">
                <a:solidFill>
                  <a:srgbClr val="434343"/>
                </a:solidFill>
                <a:latin typeface="Trebuchet MS"/>
              </a:rPr>
              <a:t>Product</a:t>
            </a:r>
            <a:r>
              <a:rPr lang="pt-BR" sz="3200" spc="-25" dirty="0">
                <a:solidFill>
                  <a:srgbClr val="434343"/>
                </a:solidFill>
                <a:latin typeface="Trebuchet MS"/>
              </a:rPr>
              <a:t> Backlog Inicial</a:t>
            </a:r>
            <a:endParaRPr lang="pt-BR" sz="3200" b="1" spc="-10" dirty="0">
              <a:solidFill>
                <a:srgbClr val="434343"/>
              </a:solidFill>
              <a:latin typeface="Trebuchet MS"/>
            </a:endParaRP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4831E6D3-E834-ACD7-A83F-18A9B0A29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297690"/>
              </p:ext>
            </p:extLst>
          </p:nvPr>
        </p:nvGraphicFramePr>
        <p:xfrm>
          <a:off x="2536723" y="2188661"/>
          <a:ext cx="7324536" cy="3340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3731">
                  <a:extLst>
                    <a:ext uri="{9D8B030D-6E8A-4147-A177-3AD203B41FA5}">
                      <a16:colId xmlns:a16="http://schemas.microsoft.com/office/drawing/2014/main" val="2274064128"/>
                    </a:ext>
                  </a:extLst>
                </a:gridCol>
                <a:gridCol w="3093022">
                  <a:extLst>
                    <a:ext uri="{9D8B030D-6E8A-4147-A177-3AD203B41FA5}">
                      <a16:colId xmlns:a16="http://schemas.microsoft.com/office/drawing/2014/main" val="186711365"/>
                    </a:ext>
                  </a:extLst>
                </a:gridCol>
                <a:gridCol w="1307783">
                  <a:extLst>
                    <a:ext uri="{9D8B030D-6E8A-4147-A177-3AD203B41FA5}">
                      <a16:colId xmlns:a16="http://schemas.microsoft.com/office/drawing/2014/main" val="3913364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>
                          <a:effectLst/>
                          <a:latin typeface="Google Sans Text"/>
                        </a:rPr>
                        <a:t>Épico</a:t>
                      </a:r>
                      <a:endParaRPr lang="pt-BR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Funcionalidade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Prioridade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0026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Gestão de Acessos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Portal de Login Centralizado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Crítica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2526818"/>
                  </a:ext>
                </a:extLst>
              </a:tr>
              <a:tr h="373298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Gestão de Permissões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Alta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282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Inteligência de Identidade</a:t>
                      </a:r>
                      <a:endParaRPr lang="pt-B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Captura de Telemetria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Crítica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4087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Motor de IA Comportamental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Alta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634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Autenticação Adaptativa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MFA Inteligente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Alta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4237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Detecção de Geolocalização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Média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334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Governança</a:t>
                      </a:r>
                      <a:r>
                        <a:rPr lang="pt-BR" dirty="0"/>
                        <a:t> </a:t>
                      </a:r>
                      <a:r>
                        <a:rPr lang="pt-BR" b="1" dirty="0"/>
                        <a:t>e Auditoria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Dashboard de Riscos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Média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546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Relatórios LGPD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Média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1751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5107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029C8-6394-1B0B-AAEF-F9659882F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>
            <a:extLst>
              <a:ext uri="{FF2B5EF4-FFF2-40B4-BE49-F238E27FC236}">
                <a16:creationId xmlns:a16="http://schemas.microsoft.com/office/drawing/2014/main" id="{9225EC0F-D960-9369-B607-E33DC5284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781" y="340239"/>
            <a:ext cx="803319" cy="639364"/>
          </a:xfrm>
          <a:prstGeom prst="rect">
            <a:avLst/>
          </a:prstGeom>
        </p:spPr>
      </p:pic>
      <p:sp>
        <p:nvSpPr>
          <p:cNvPr id="27" name="object 5">
            <a:extLst>
              <a:ext uri="{FF2B5EF4-FFF2-40B4-BE49-F238E27FC236}">
                <a16:creationId xmlns:a16="http://schemas.microsoft.com/office/drawing/2014/main" id="{C5D3254C-D3F3-D57F-EF82-437DC483534A}"/>
              </a:ext>
            </a:extLst>
          </p:cNvPr>
          <p:cNvSpPr txBox="1">
            <a:spLocks/>
          </p:cNvSpPr>
          <p:nvPr/>
        </p:nvSpPr>
        <p:spPr>
          <a:xfrm>
            <a:off x="732233" y="659921"/>
            <a:ext cx="556069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pt-BR" sz="3200" spc="-25" dirty="0">
                <a:solidFill>
                  <a:srgbClr val="434343"/>
                </a:solidFill>
                <a:latin typeface="Trebuchet MS"/>
              </a:rPr>
              <a:t>Restrições</a:t>
            </a:r>
            <a:endParaRPr lang="pt-BR" sz="3200" b="1" spc="-10" dirty="0">
              <a:solidFill>
                <a:srgbClr val="434343"/>
              </a:solidFill>
              <a:latin typeface="Trebuchet MS"/>
            </a:endParaRPr>
          </a:p>
        </p:txBody>
      </p:sp>
      <p:sp>
        <p:nvSpPr>
          <p:cNvPr id="4" name="object 11">
            <a:extLst>
              <a:ext uri="{FF2B5EF4-FFF2-40B4-BE49-F238E27FC236}">
                <a16:creationId xmlns:a16="http://schemas.microsoft.com/office/drawing/2014/main" id="{B9E85F51-2FC7-6EEC-B6D0-B80F90D5169E}"/>
              </a:ext>
            </a:extLst>
          </p:cNvPr>
          <p:cNvSpPr txBox="1"/>
          <p:nvPr/>
        </p:nvSpPr>
        <p:spPr>
          <a:xfrm>
            <a:off x="5177410" y="1706371"/>
            <a:ext cx="18376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sz="2400" b="1" spc="-10" dirty="0">
                <a:solidFill>
                  <a:srgbClr val="0000BE"/>
                </a:solidFill>
                <a:latin typeface="Trebuchet MS"/>
                <a:cs typeface="Trebuchet MS"/>
              </a:rPr>
              <a:t>Público-Alvo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CEE7AF89-F6D5-89CC-BD62-F0A973A05D2C}"/>
              </a:ext>
            </a:extLst>
          </p:cNvPr>
          <p:cNvSpPr txBox="1"/>
          <p:nvPr/>
        </p:nvSpPr>
        <p:spPr>
          <a:xfrm>
            <a:off x="2110537" y="1706371"/>
            <a:ext cx="210750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sz="2400" b="1" spc="45" dirty="0">
                <a:solidFill>
                  <a:srgbClr val="0000BE"/>
                </a:solidFill>
                <a:latin typeface="Trebuchet MS"/>
                <a:cs typeface="Trebuchet MS"/>
              </a:rPr>
              <a:t>Conformidade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6" name="object 13">
            <a:extLst>
              <a:ext uri="{FF2B5EF4-FFF2-40B4-BE49-F238E27FC236}">
                <a16:creationId xmlns:a16="http://schemas.microsoft.com/office/drawing/2014/main" id="{45F6B31C-39A9-7677-5AEA-28145CF1FA61}"/>
              </a:ext>
            </a:extLst>
          </p:cNvPr>
          <p:cNvSpPr txBox="1"/>
          <p:nvPr/>
        </p:nvSpPr>
        <p:spPr>
          <a:xfrm>
            <a:off x="8448637" y="1706371"/>
            <a:ext cx="153233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pt-BR"/>
            </a:defPPr>
            <a:lvl1pPr marL="12700">
              <a:spcBef>
                <a:spcPts val="100"/>
              </a:spcBef>
              <a:defRPr sz="2400" b="1" spc="-10">
                <a:solidFill>
                  <a:srgbClr val="0000BE"/>
                </a:solidFill>
                <a:latin typeface="Trebuchet MS"/>
                <a:cs typeface="Trebuchet MS"/>
              </a:defRPr>
            </a:lvl1pPr>
          </a:lstStyle>
          <a:p>
            <a:r>
              <a:rPr lang="pt-BR" dirty="0"/>
              <a:t>Segurança</a:t>
            </a:r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4816F51C-FE97-776B-9259-DC22E12B2E2D}"/>
              </a:ext>
            </a:extLst>
          </p:cNvPr>
          <p:cNvSpPr txBox="1"/>
          <p:nvPr/>
        </p:nvSpPr>
        <p:spPr>
          <a:xfrm>
            <a:off x="1985568" y="2380870"/>
            <a:ext cx="19850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spcBef>
                <a:spcPts val="100"/>
              </a:spcBef>
            </a:pPr>
            <a:r>
              <a:rPr lang="pt-BR" sz="1200" dirty="0">
                <a:solidFill>
                  <a:srgbClr val="434343"/>
                </a:solidFill>
                <a:latin typeface="Trebuchet MS"/>
                <a:cs typeface="Trebuchet MS"/>
              </a:rPr>
              <a:t>O sistema deve respeitar obrigatoriamente todas as normas e diretrizes da LGPD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8" name="object 15">
            <a:extLst>
              <a:ext uri="{FF2B5EF4-FFF2-40B4-BE49-F238E27FC236}">
                <a16:creationId xmlns:a16="http://schemas.microsoft.com/office/drawing/2014/main" id="{9F4ED162-9502-DB0C-C055-9DED6D539801}"/>
              </a:ext>
            </a:extLst>
          </p:cNvPr>
          <p:cNvSpPr txBox="1"/>
          <p:nvPr/>
        </p:nvSpPr>
        <p:spPr>
          <a:xfrm>
            <a:off x="4885183" y="2380870"/>
            <a:ext cx="24212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spcBef>
                <a:spcPts val="100"/>
              </a:spcBef>
            </a:pPr>
            <a:r>
              <a:rPr lang="pt-BR" sz="1200" dirty="0">
                <a:solidFill>
                  <a:srgbClr val="434343"/>
                </a:solidFill>
                <a:latin typeface="Trebuchet MS"/>
                <a:cs typeface="Trebuchet MS"/>
              </a:rPr>
              <a:t>O foco exclusivo da solução são Pequenas e Médias Empresas (</a:t>
            </a:r>
            <a:r>
              <a:rPr lang="pt-BR" sz="1200" dirty="0" err="1">
                <a:solidFill>
                  <a:srgbClr val="434343"/>
                </a:solidFill>
                <a:latin typeface="Trebuchet MS"/>
                <a:cs typeface="Trebuchet MS"/>
              </a:rPr>
              <a:t>PMEs</a:t>
            </a:r>
            <a:r>
              <a:rPr lang="pt-BR" sz="1200" dirty="0">
                <a:solidFill>
                  <a:srgbClr val="434343"/>
                </a:solidFill>
                <a:latin typeface="Trebuchet MS"/>
                <a:cs typeface="Trebuchet MS"/>
              </a:rPr>
              <a:t>).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9" name="object 16">
            <a:extLst>
              <a:ext uri="{FF2B5EF4-FFF2-40B4-BE49-F238E27FC236}">
                <a16:creationId xmlns:a16="http://schemas.microsoft.com/office/drawing/2014/main" id="{056CDA72-1208-F713-FB81-8DE7A310CB39}"/>
              </a:ext>
            </a:extLst>
          </p:cNvPr>
          <p:cNvSpPr txBox="1"/>
          <p:nvPr/>
        </p:nvSpPr>
        <p:spPr>
          <a:xfrm>
            <a:off x="8270241" y="2380870"/>
            <a:ext cx="2033963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spcBef>
                <a:spcPts val="100"/>
              </a:spcBef>
            </a:pPr>
            <a:r>
              <a:rPr lang="pt-BR" sz="1200" dirty="0">
                <a:solidFill>
                  <a:srgbClr val="434343"/>
                </a:solidFill>
                <a:latin typeface="Trebuchet MS"/>
                <a:cs typeface="Trebuchet MS"/>
              </a:rPr>
              <a:t>Dados biométricos comportamentais devem ser criptografados para proteção da privacidade.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10" name="object 17">
            <a:extLst>
              <a:ext uri="{FF2B5EF4-FFF2-40B4-BE49-F238E27FC236}">
                <a16:creationId xmlns:a16="http://schemas.microsoft.com/office/drawing/2014/main" id="{DF840532-017D-216C-E24C-388E6C7BEF33}"/>
              </a:ext>
            </a:extLst>
          </p:cNvPr>
          <p:cNvSpPr/>
          <p:nvPr/>
        </p:nvSpPr>
        <p:spPr>
          <a:xfrm>
            <a:off x="4381500" y="1685544"/>
            <a:ext cx="0" cy="1438910"/>
          </a:xfrm>
          <a:custGeom>
            <a:avLst/>
            <a:gdLst/>
            <a:ahLst/>
            <a:cxnLst/>
            <a:rect l="l" t="t" r="r" b="b"/>
            <a:pathLst>
              <a:path h="1438910">
                <a:moveTo>
                  <a:pt x="0" y="0"/>
                </a:moveTo>
                <a:lnTo>
                  <a:pt x="0" y="1438655"/>
                </a:lnTo>
              </a:path>
            </a:pathLst>
          </a:custGeom>
          <a:ln w="12700">
            <a:solidFill>
              <a:srgbClr val="43434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8">
            <a:extLst>
              <a:ext uri="{FF2B5EF4-FFF2-40B4-BE49-F238E27FC236}">
                <a16:creationId xmlns:a16="http://schemas.microsoft.com/office/drawing/2014/main" id="{6E82D56B-4903-0140-CF1C-8982859B9281}"/>
              </a:ext>
            </a:extLst>
          </p:cNvPr>
          <p:cNvSpPr/>
          <p:nvPr/>
        </p:nvSpPr>
        <p:spPr>
          <a:xfrm>
            <a:off x="7810500" y="1685544"/>
            <a:ext cx="0" cy="1438910"/>
          </a:xfrm>
          <a:custGeom>
            <a:avLst/>
            <a:gdLst/>
            <a:ahLst/>
            <a:cxnLst/>
            <a:rect l="l" t="t" r="r" b="b"/>
            <a:pathLst>
              <a:path h="1438910">
                <a:moveTo>
                  <a:pt x="0" y="0"/>
                </a:moveTo>
                <a:lnTo>
                  <a:pt x="0" y="1438655"/>
                </a:lnTo>
              </a:path>
            </a:pathLst>
          </a:custGeom>
          <a:ln w="12700">
            <a:solidFill>
              <a:srgbClr val="43434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9E7D3B1C-5DC4-0782-12A8-7C192BEE0EBF}"/>
              </a:ext>
            </a:extLst>
          </p:cNvPr>
          <p:cNvSpPr txBox="1"/>
          <p:nvPr/>
        </p:nvSpPr>
        <p:spPr>
          <a:xfrm>
            <a:off x="732233" y="3644169"/>
            <a:ext cx="51758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pt-BR" sz="3200" spc="-25" dirty="0">
                <a:solidFill>
                  <a:srgbClr val="434343"/>
                </a:solidFill>
                <a:latin typeface="Trebuchet MS"/>
              </a:rPr>
              <a:t>Premissas</a:t>
            </a:r>
            <a:endParaRPr lang="pt-BR" sz="3200" b="1" spc="-10" dirty="0">
              <a:solidFill>
                <a:srgbClr val="434343"/>
              </a:solidFill>
              <a:latin typeface="Trebuchet MS"/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CEF23E7A-ED8C-B66D-2A0F-5B47ECAEE474}"/>
              </a:ext>
            </a:extLst>
          </p:cNvPr>
          <p:cNvSpPr txBox="1"/>
          <p:nvPr/>
        </p:nvSpPr>
        <p:spPr>
          <a:xfrm>
            <a:off x="5084271" y="4625550"/>
            <a:ext cx="222216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sz="2400" b="1" spc="-10" dirty="0">
                <a:solidFill>
                  <a:srgbClr val="0000BE"/>
                </a:solidFill>
                <a:latin typeface="Trebuchet MS"/>
                <a:cs typeface="Trebuchet MS"/>
              </a:rPr>
              <a:t>Disponibilidade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22" name="object 12">
            <a:extLst>
              <a:ext uri="{FF2B5EF4-FFF2-40B4-BE49-F238E27FC236}">
                <a16:creationId xmlns:a16="http://schemas.microsoft.com/office/drawing/2014/main" id="{016FD904-5740-3D49-11B1-C690F15CCF69}"/>
              </a:ext>
            </a:extLst>
          </p:cNvPr>
          <p:cNvSpPr txBox="1"/>
          <p:nvPr/>
        </p:nvSpPr>
        <p:spPr>
          <a:xfrm>
            <a:off x="2110537" y="4646377"/>
            <a:ext cx="20360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sz="2400" b="1" spc="45" dirty="0">
                <a:solidFill>
                  <a:srgbClr val="0000BE"/>
                </a:solidFill>
                <a:latin typeface="Trebuchet MS"/>
                <a:cs typeface="Trebuchet MS"/>
              </a:rPr>
              <a:t>Autenticação</a:t>
            </a:r>
            <a:endParaRPr lang="pt-BR" sz="2400" dirty="0">
              <a:latin typeface="Trebuchet MS"/>
              <a:cs typeface="Trebuchet MS"/>
            </a:endParaRPr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4525CABE-EDFA-1180-B9F2-43A40C10656F}"/>
              </a:ext>
            </a:extLst>
          </p:cNvPr>
          <p:cNvSpPr txBox="1"/>
          <p:nvPr/>
        </p:nvSpPr>
        <p:spPr>
          <a:xfrm>
            <a:off x="1985568" y="5320876"/>
            <a:ext cx="19850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spcBef>
                <a:spcPts val="100"/>
              </a:spcBef>
            </a:pPr>
            <a:r>
              <a:rPr lang="pt-BR" sz="1200" dirty="0">
                <a:solidFill>
                  <a:srgbClr val="434343"/>
                </a:solidFill>
                <a:latin typeface="Trebuchet MS"/>
                <a:cs typeface="Trebuchet MS"/>
              </a:rPr>
              <a:t>Assume-se a integração com APIs externas para envio de MFA via E-mail e SMS.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D510E2E6-8AD0-3617-4A2C-2AC77E26EC24}"/>
              </a:ext>
            </a:extLst>
          </p:cNvPr>
          <p:cNvSpPr txBox="1"/>
          <p:nvPr/>
        </p:nvSpPr>
        <p:spPr>
          <a:xfrm>
            <a:off x="4885183" y="5320876"/>
            <a:ext cx="24212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spcBef>
                <a:spcPts val="100"/>
              </a:spcBef>
            </a:pPr>
            <a:r>
              <a:rPr lang="pt-BR" sz="1200" dirty="0">
                <a:solidFill>
                  <a:srgbClr val="434343"/>
                </a:solidFill>
                <a:latin typeface="Trebuchet MS"/>
                <a:cs typeface="Trebuchet MS"/>
              </a:rPr>
              <a:t>os serviços de terceiros responsáveis pelo envio de tokens MFA estarão disponíveis</a:t>
            </a:r>
          </a:p>
        </p:txBody>
      </p:sp>
      <p:sp>
        <p:nvSpPr>
          <p:cNvPr id="29" name="object 17">
            <a:extLst>
              <a:ext uri="{FF2B5EF4-FFF2-40B4-BE49-F238E27FC236}">
                <a16:creationId xmlns:a16="http://schemas.microsoft.com/office/drawing/2014/main" id="{2856305E-2E6E-1851-8FEA-04E9125A6A43}"/>
              </a:ext>
            </a:extLst>
          </p:cNvPr>
          <p:cNvSpPr/>
          <p:nvPr/>
        </p:nvSpPr>
        <p:spPr>
          <a:xfrm>
            <a:off x="4381500" y="4625550"/>
            <a:ext cx="0" cy="1438910"/>
          </a:xfrm>
          <a:custGeom>
            <a:avLst/>
            <a:gdLst/>
            <a:ahLst/>
            <a:cxnLst/>
            <a:rect l="l" t="t" r="r" b="b"/>
            <a:pathLst>
              <a:path h="1438910">
                <a:moveTo>
                  <a:pt x="0" y="0"/>
                </a:moveTo>
                <a:lnTo>
                  <a:pt x="0" y="1438655"/>
                </a:lnTo>
              </a:path>
            </a:pathLst>
          </a:custGeom>
          <a:ln w="12700">
            <a:solidFill>
              <a:srgbClr val="43434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8">
            <a:extLst>
              <a:ext uri="{FF2B5EF4-FFF2-40B4-BE49-F238E27FC236}">
                <a16:creationId xmlns:a16="http://schemas.microsoft.com/office/drawing/2014/main" id="{E6DE88F5-A606-E345-8A57-592302999D83}"/>
              </a:ext>
            </a:extLst>
          </p:cNvPr>
          <p:cNvSpPr/>
          <p:nvPr/>
        </p:nvSpPr>
        <p:spPr>
          <a:xfrm>
            <a:off x="7810500" y="4625550"/>
            <a:ext cx="0" cy="1438910"/>
          </a:xfrm>
          <a:custGeom>
            <a:avLst/>
            <a:gdLst/>
            <a:ahLst/>
            <a:cxnLst/>
            <a:rect l="l" t="t" r="r" b="b"/>
            <a:pathLst>
              <a:path h="1438910">
                <a:moveTo>
                  <a:pt x="0" y="0"/>
                </a:moveTo>
                <a:lnTo>
                  <a:pt x="0" y="1438655"/>
                </a:lnTo>
              </a:path>
            </a:pathLst>
          </a:custGeom>
          <a:ln w="12700">
            <a:solidFill>
              <a:srgbClr val="43434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11">
            <a:extLst>
              <a:ext uri="{FF2B5EF4-FFF2-40B4-BE49-F238E27FC236}">
                <a16:creationId xmlns:a16="http://schemas.microsoft.com/office/drawing/2014/main" id="{5E6C81EB-C872-B67C-6A80-AE6A0FE842BF}"/>
              </a:ext>
            </a:extLst>
          </p:cNvPr>
          <p:cNvSpPr txBox="1"/>
          <p:nvPr/>
        </p:nvSpPr>
        <p:spPr>
          <a:xfrm>
            <a:off x="8473980" y="4646377"/>
            <a:ext cx="18376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pt-BR" sz="2400" b="1" spc="-10" dirty="0">
                <a:solidFill>
                  <a:srgbClr val="0000BE"/>
                </a:solidFill>
                <a:latin typeface="Trebuchet MS"/>
                <a:cs typeface="Trebuchet MS"/>
              </a:rPr>
              <a:t>Acurácia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3" name="object 15">
            <a:extLst>
              <a:ext uri="{FF2B5EF4-FFF2-40B4-BE49-F238E27FC236}">
                <a16:creationId xmlns:a16="http://schemas.microsoft.com/office/drawing/2014/main" id="{B1E749CB-B373-DE20-E239-476B81C71D31}"/>
              </a:ext>
            </a:extLst>
          </p:cNvPr>
          <p:cNvSpPr txBox="1"/>
          <p:nvPr/>
        </p:nvSpPr>
        <p:spPr>
          <a:xfrm>
            <a:off x="8240745" y="5232386"/>
            <a:ext cx="242125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spcBef>
                <a:spcPts val="100"/>
              </a:spcBef>
            </a:pPr>
            <a:r>
              <a:rPr lang="pt-BR" sz="1200" dirty="0">
                <a:solidFill>
                  <a:srgbClr val="434343"/>
                </a:solidFill>
                <a:latin typeface="Trebuchet MS"/>
                <a:cs typeface="Trebuchet MS"/>
              </a:rPr>
              <a:t>Parte-se do princípio de que os navegadores permitirão a coleta precisa dos tempos de digitação do usuário.</a:t>
            </a:r>
          </a:p>
        </p:txBody>
      </p:sp>
    </p:spTree>
    <p:extLst>
      <p:ext uri="{BB962C8B-B14F-4D97-AF65-F5344CB8AC3E}">
        <p14:creationId xmlns:p14="http://schemas.microsoft.com/office/powerpoint/2010/main" val="84956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4FDA1-7600-1CDA-92EB-957A5D253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>
            <a:extLst>
              <a:ext uri="{FF2B5EF4-FFF2-40B4-BE49-F238E27FC236}">
                <a16:creationId xmlns:a16="http://schemas.microsoft.com/office/drawing/2014/main" id="{E8E51EE4-71B2-E1F2-0DBF-98DD7F94D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781" y="340239"/>
            <a:ext cx="803319" cy="639364"/>
          </a:xfrm>
          <a:prstGeom prst="rect">
            <a:avLst/>
          </a:prstGeom>
        </p:spPr>
      </p:pic>
      <p:sp>
        <p:nvSpPr>
          <p:cNvPr id="27" name="object 5">
            <a:extLst>
              <a:ext uri="{FF2B5EF4-FFF2-40B4-BE49-F238E27FC236}">
                <a16:creationId xmlns:a16="http://schemas.microsoft.com/office/drawing/2014/main" id="{68165F05-4FD1-F266-B49E-005A4EA6D4C9}"/>
              </a:ext>
            </a:extLst>
          </p:cNvPr>
          <p:cNvSpPr txBox="1">
            <a:spLocks/>
          </p:cNvSpPr>
          <p:nvPr/>
        </p:nvSpPr>
        <p:spPr>
          <a:xfrm>
            <a:off x="732233" y="659921"/>
            <a:ext cx="5560695" cy="99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pt-BR" sz="3200" b="1" spc="-25" dirty="0">
                <a:solidFill>
                  <a:srgbClr val="434343"/>
                </a:solidFill>
                <a:latin typeface="Trebuchet MS"/>
              </a:rPr>
              <a:t>Autenticação Inteligente  MFA</a:t>
            </a:r>
            <a:endParaRPr lang="pt-BR" sz="3200" b="1" spc="-10" dirty="0">
              <a:solidFill>
                <a:srgbClr val="434343"/>
              </a:solidFill>
              <a:latin typeface="Trebuchet MS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C28E2DC-528A-8F6E-8A69-CA2DFAE0A5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11067"/>
            <a:ext cx="12192000" cy="340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93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E8114-7B6F-A66F-3582-3E078A508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>
            <a:extLst>
              <a:ext uri="{FF2B5EF4-FFF2-40B4-BE49-F238E27FC236}">
                <a16:creationId xmlns:a16="http://schemas.microsoft.com/office/drawing/2014/main" id="{8BDE0BC3-6FFA-B167-30A2-AB1B3591C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781" y="340239"/>
            <a:ext cx="803319" cy="639364"/>
          </a:xfrm>
          <a:prstGeom prst="rect">
            <a:avLst/>
          </a:prstGeom>
        </p:spPr>
      </p:pic>
      <p:sp>
        <p:nvSpPr>
          <p:cNvPr id="27" name="object 5">
            <a:extLst>
              <a:ext uri="{FF2B5EF4-FFF2-40B4-BE49-F238E27FC236}">
                <a16:creationId xmlns:a16="http://schemas.microsoft.com/office/drawing/2014/main" id="{F6EAC78A-2B06-2F65-C650-21C62E028CCB}"/>
              </a:ext>
            </a:extLst>
          </p:cNvPr>
          <p:cNvSpPr txBox="1">
            <a:spLocks/>
          </p:cNvSpPr>
          <p:nvPr/>
        </p:nvSpPr>
        <p:spPr>
          <a:xfrm>
            <a:off x="732233" y="659921"/>
            <a:ext cx="5560695" cy="99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pt-BR" sz="3200" b="1" spc="-25" dirty="0">
                <a:solidFill>
                  <a:srgbClr val="434343"/>
                </a:solidFill>
                <a:latin typeface="Trebuchet MS"/>
              </a:rPr>
              <a:t>Monitoramento Dashboard de Risco</a:t>
            </a:r>
            <a:endParaRPr lang="pt-BR" sz="3200" b="1" spc="-10" dirty="0">
              <a:solidFill>
                <a:srgbClr val="434343"/>
              </a:solidFill>
              <a:latin typeface="Trebuchet MS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52A92BC-914E-7881-A3BC-626F1E773D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25196"/>
            <a:ext cx="12192000" cy="377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544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70A36-BF0C-36C4-4AAF-177FEEAA1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>
            <a:extLst>
              <a:ext uri="{FF2B5EF4-FFF2-40B4-BE49-F238E27FC236}">
                <a16:creationId xmlns:a16="http://schemas.microsoft.com/office/drawing/2014/main" id="{88260091-C736-9DBF-B9AD-4D26944EB7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781" y="340239"/>
            <a:ext cx="803319" cy="639364"/>
          </a:xfrm>
          <a:prstGeom prst="rect">
            <a:avLst/>
          </a:prstGeom>
        </p:spPr>
      </p:pic>
      <p:sp>
        <p:nvSpPr>
          <p:cNvPr id="27" name="object 5">
            <a:extLst>
              <a:ext uri="{FF2B5EF4-FFF2-40B4-BE49-F238E27FC236}">
                <a16:creationId xmlns:a16="http://schemas.microsoft.com/office/drawing/2014/main" id="{CC40AC7A-1FD9-BDEC-0894-8FE5F51A8417}"/>
              </a:ext>
            </a:extLst>
          </p:cNvPr>
          <p:cNvSpPr txBox="1">
            <a:spLocks/>
          </p:cNvSpPr>
          <p:nvPr/>
        </p:nvSpPr>
        <p:spPr>
          <a:xfrm>
            <a:off x="732233" y="659921"/>
            <a:ext cx="556069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pt-BR" sz="3200" b="1" spc="-25" dirty="0">
                <a:solidFill>
                  <a:srgbClr val="434343"/>
                </a:solidFill>
                <a:latin typeface="Trebuchet MS"/>
              </a:rPr>
              <a:t>Validação Comportamental </a:t>
            </a:r>
            <a:endParaRPr lang="pt-BR" sz="3200" b="1" spc="-10" dirty="0">
              <a:solidFill>
                <a:srgbClr val="434343"/>
              </a:solidFill>
              <a:latin typeface="Trebuchet MS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0864ADB-8F12-C7F9-DB42-86FC028E73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9" y="2384429"/>
            <a:ext cx="12113342" cy="3972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694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AB707-6A21-A845-B8A7-930BCCDBC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5">
            <a:extLst>
              <a:ext uri="{FF2B5EF4-FFF2-40B4-BE49-F238E27FC236}">
                <a16:creationId xmlns:a16="http://schemas.microsoft.com/office/drawing/2014/main" id="{FCA79CBE-B129-C973-CEC5-BF3B62E41D91}"/>
              </a:ext>
            </a:extLst>
          </p:cNvPr>
          <p:cNvPicPr/>
          <p:nvPr/>
        </p:nvPicPr>
        <p:blipFill>
          <a:blip r:embed="rId2" cstate="print">
            <a:lum bright="70000" contrast="-70000"/>
          </a:blip>
          <a:stretch>
            <a:fillRect/>
          </a:stretch>
        </p:blipFill>
        <p:spPr>
          <a:xfrm>
            <a:off x="0" y="0"/>
            <a:ext cx="12188952" cy="685799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F923BA4-6619-5D3A-3D02-0D756C9656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435" y="2512087"/>
            <a:ext cx="2304082" cy="183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5308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3272</TotalTime>
  <Words>374</Words>
  <Application>Microsoft Office PowerPoint</Application>
  <PresentationFormat>Widescreen</PresentationFormat>
  <Paragraphs>79</Paragraphs>
  <Slides>10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8" baseType="lpstr">
      <vt:lpstr>Microsoft JhengHei UI Light</vt:lpstr>
      <vt:lpstr>Aptos</vt:lpstr>
      <vt:lpstr>Aptos Display</vt:lpstr>
      <vt:lpstr>Arial</vt:lpstr>
      <vt:lpstr>Google Sans Text</vt:lpstr>
      <vt:lpstr>Tahoma</vt:lpstr>
      <vt:lpstr>Trebuchet MS</vt:lpstr>
      <vt:lpstr>Tema do Office</vt:lpstr>
      <vt:lpstr>Apresentação do PowerPoint</vt:lpstr>
      <vt:lpstr>Tema do Projeto NetSecurity</vt:lpstr>
      <vt:lpstr>Apresentação do PowerPoint</vt:lpstr>
      <vt:lpstr>Definição Tecnológica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SILVA</dc:creator>
  <cp:lastModifiedBy>FELIPE SILVA</cp:lastModifiedBy>
  <cp:revision>6</cp:revision>
  <dcterms:created xsi:type="dcterms:W3CDTF">2026-04-04T02:29:50Z</dcterms:created>
  <dcterms:modified xsi:type="dcterms:W3CDTF">2026-04-09T21:05:33Z</dcterms:modified>
</cp:coreProperties>
</file>